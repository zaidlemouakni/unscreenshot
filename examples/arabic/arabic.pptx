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B2340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8931758" y="281816"/>
            <a:ext cx="2654452" cy="16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r" rtl="1">
              <a:lnSpc>
                <a:spcPts val="1301"/>
              </a:lnSpc>
              <a:buNone/>
            </a:pPr>
            <a:r>
              <a:rPr lang="ar-SA" sz="1001" dirty="0">
                <a:solidFill>
                  <a:srgbClr val="6B7392"/>
                </a:solidFill>
                <a:latin typeface="Segoe UI Semibold"/>
                <a:ea typeface="Segoe UI Semibold"/>
                <a:cs typeface="Segoe UI Semibold"/>
              </a:rPr>
              <a:t>نسيم للخدمات اللوجستية  |  </a:t>
            </a:r>
            <a:r>
              <a:rPr lang="ar-SA" sz="1001" dirty="0">
                <a:solidFill>
                  <a:srgbClr val="F26B3A"/>
                </a:solidFill>
                <a:latin typeface="Segoe UI Semibold"/>
                <a:ea typeface="Segoe UI Semibold"/>
                <a:cs typeface="Segoe UI Semibold"/>
              </a:rPr>
              <a:t>خطة العمليات 2027</a:t>
            </a:r>
            <a:endParaRPr lang="ar-SA" sz="1001" dirty="0"/>
          </a:p>
        </p:txBody>
      </p:sp>
      <p:sp>
        <p:nvSpPr>
          <p:cNvPr id="4" name="page-number"/>
          <p:cNvSpPr txBox="1"/>
          <p:nvPr/>
        </p:nvSpPr>
        <p:spPr>
          <a:xfrm>
            <a:off x="605282" y="272785"/>
            <a:ext cx="282169" cy="161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269"/>
              </a:lnSpc>
              <a:buNone/>
            </a:pPr>
            <a:r>
              <a:rPr lang="ar-SA" sz="976" dirty="0">
                <a:solidFill>
                  <a:srgbClr val="6B7392"/>
                </a:solidFill>
                <a:latin typeface="Segoe UI Semibold"/>
                <a:ea typeface="Segoe UI Semibold"/>
                <a:cs typeface="Segoe UI Semibold"/>
              </a:rPr>
              <a:t>04</a:t>
            </a:r>
            <a:endParaRPr lang="ar-SA" sz="976" dirty="0"/>
          </a:p>
        </p:txBody>
      </p:sp>
      <p:sp>
        <p:nvSpPr>
          <p:cNvPr id="5" name="title"/>
          <p:cNvSpPr txBox="1"/>
          <p:nvPr/>
        </p:nvSpPr>
        <p:spPr>
          <a:xfrm>
            <a:off x="6817843" y="601980"/>
            <a:ext cx="4766589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r" rtl="1">
              <a:lnSpc>
                <a:spcPts val="3600"/>
              </a:lnSpc>
              <a:buNone/>
            </a:pPr>
            <a:r>
              <a:rPr lang="ar-SA" sz="2694" b="1" dirty="0">
                <a:solidFill>
                  <a:srgbClr val="1B2340"/>
                </a:solidFill>
                <a:latin typeface="Dubai"/>
                <a:ea typeface="Dubai"/>
                <a:cs typeface="Dubai"/>
              </a:rPr>
              <a:t>توصيل أسرع وتكلفة أقل لكل طرد:</a:t>
            </a:r>
            <a:br>
              <a:rPr lang="ar-SA" sz="2694" dirty="0"/>
            </a:br>
            <a:r>
              <a:rPr lang="ar-SA" sz="2694" b="1" dirty="0">
                <a:solidFill>
                  <a:srgbClr val="1B2340"/>
                </a:solidFill>
                <a:latin typeface="Dubai"/>
                <a:ea typeface="Dubai"/>
                <a:cs typeface="Dubai"/>
              </a:rPr>
              <a:t>ثلاث خطوات للعام المقبل.</a:t>
            </a:r>
            <a:endParaRPr lang="ar-SA" sz="2694" dirty="0"/>
          </a:p>
        </p:txBody>
      </p:sp>
      <p:sp>
        <p:nvSpPr>
          <p:cNvPr id="6" name="subtitle"/>
          <p:cNvSpPr txBox="1"/>
          <p:nvPr/>
        </p:nvSpPr>
        <p:spPr>
          <a:xfrm>
            <a:off x="5759907" y="1628448"/>
            <a:ext cx="5823763" cy="2141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r" rtl="1">
              <a:lnSpc>
                <a:spcPts val="1686"/>
              </a:lnSpc>
              <a:buNone/>
            </a:pPr>
            <a:r>
              <a:rPr lang="ar-SA" sz="1297" dirty="0">
                <a:solidFill>
                  <a:srgbClr val="59617E"/>
                </a:solidFill>
                <a:latin typeface="Segoe UI"/>
                <a:ea typeface="Segoe UI"/>
                <a:cs typeface="Segoe UI"/>
              </a:rPr>
              <a:t>نضاعف الفرز الآلي، ونحوّل الأسطول إلى الشاحنات الكهربائية، ونفتح مركزين إقليميين.</a:t>
            </a:r>
            <a:endParaRPr lang="ar-SA" sz="1297" dirty="0"/>
          </a:p>
        </p:txBody>
      </p:sp>
      <p:grpSp>
        <p:nvGrpSpPr>
          <p:cNvPr id="8" name="kpi1"/>
          <p:cNvGrpSpPr/>
          <p:nvPr/>
        </p:nvGrpSpPr>
        <p:grpSpPr>
          <a:xfrm>
            <a:off x="9175750" y="2165350"/>
            <a:ext cx="2400300" cy="1193800"/>
            <a:chOff x="9175750" y="2165350"/>
            <a:chExt cx="2400300" cy="1193800"/>
          </a:xfrm>
        </p:grpSpPr>
        <p:sp>
          <p:nvSpPr>
            <p:cNvPr id="7" name="kpi1-card"/>
            <p:cNvSpPr/>
            <p:nvPr/>
          </p:nvSpPr>
          <p:spPr>
            <a:xfrm>
              <a:off x="9175750" y="2165350"/>
              <a:ext cx="2400300" cy="119380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12700" cap="flat">
              <a:solidFill>
                <a:srgbClr val="E4E7F0"/>
              </a:solidFill>
            </a:ln>
          </p:spPr>
        </p:sp>
        <p:sp>
          <p:nvSpPr>
            <p:cNvPr id="9" name="kpi1-value"/>
            <p:cNvSpPr txBox="1"/>
            <p:nvPr/>
          </p:nvSpPr>
          <p:spPr>
            <a:xfrm>
              <a:off x="10321188" y="2327376"/>
              <a:ext cx="1047217" cy="4947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r" rtl="1">
                <a:lnSpc>
                  <a:spcPts val="3895"/>
                </a:lnSpc>
                <a:buNone/>
              </a:pPr>
              <a:r>
                <a:rPr lang="ar-SA" sz="2996" b="1" dirty="0">
                  <a:solidFill>
                    <a:srgbClr val="F26B3A"/>
                  </a:solidFill>
                  <a:latin typeface="Dubai"/>
                  <a:ea typeface="Dubai"/>
                  <a:cs typeface="Dubai"/>
                </a:rPr>
                <a:t>١٨٪</a:t>
              </a:r>
              <a:endParaRPr lang="ar-SA" sz="2996" dirty="0"/>
            </a:p>
          </p:txBody>
        </p:sp>
        <p:sp>
          <p:nvSpPr>
            <p:cNvPr id="10" name="kpi1-label"/>
            <p:cNvSpPr txBox="1"/>
            <p:nvPr/>
          </p:nvSpPr>
          <p:spPr>
            <a:xfrm>
              <a:off x="10267277" y="2899092"/>
              <a:ext cx="1090905" cy="393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r" rtl="1">
                <a:lnSpc>
                  <a:spcPts val="1550"/>
                </a:lnSpc>
                <a:buNone/>
              </a:pPr>
              <a:r>
                <a:rPr lang="ar-SA" sz="991" dirty="0">
                  <a:solidFill>
                    <a:srgbClr val="1B2340"/>
                  </a:solidFill>
                  <a:latin typeface="Segoe UI Semibold"/>
                  <a:ea typeface="Segoe UI Semibold"/>
                  <a:cs typeface="Segoe UI Semibold"/>
                </a:rPr>
                <a:t>خفض تكلفة الطرد</a:t>
              </a:r>
              <a:br>
                <a:rPr lang="ar-SA" sz="991" dirty="0"/>
              </a:br>
              <a:r>
                <a:rPr lang="ar-SA" sz="991" dirty="0">
                  <a:solidFill>
                    <a:srgbClr val="1B2340"/>
                  </a:solidFill>
                  <a:latin typeface="Segoe UI Semibold"/>
                  <a:ea typeface="Segoe UI Semibold"/>
                  <a:cs typeface="Segoe UI Semibold"/>
                </a:rPr>
                <a:t>بحلول الربع الرابع</a:t>
              </a:r>
              <a:endParaRPr lang="ar-SA" sz="991" dirty="0"/>
            </a:p>
          </p:txBody>
        </p:sp>
      </p:grpSp>
      <p:grpSp>
        <p:nvGrpSpPr>
          <p:cNvPr id="12" name="kpi2"/>
          <p:cNvGrpSpPr/>
          <p:nvPr/>
        </p:nvGrpSpPr>
        <p:grpSpPr>
          <a:xfrm>
            <a:off x="6559550" y="2165350"/>
            <a:ext cx="2400300" cy="1193800"/>
            <a:chOff x="6559550" y="2165350"/>
            <a:chExt cx="2400300" cy="1193800"/>
          </a:xfrm>
        </p:grpSpPr>
        <p:sp>
          <p:nvSpPr>
            <p:cNvPr id="11" name="kpi2-card"/>
            <p:cNvSpPr/>
            <p:nvPr/>
          </p:nvSpPr>
          <p:spPr>
            <a:xfrm>
              <a:off x="6559550" y="2165350"/>
              <a:ext cx="2400300" cy="119380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12700" cap="flat">
              <a:solidFill>
                <a:srgbClr val="E4E7F0"/>
              </a:solidFill>
            </a:ln>
          </p:spPr>
        </p:sp>
        <p:sp>
          <p:nvSpPr>
            <p:cNvPr id="13" name="kpi2-value"/>
            <p:cNvSpPr txBox="1"/>
            <p:nvPr/>
          </p:nvSpPr>
          <p:spPr>
            <a:xfrm>
              <a:off x="7312622" y="2321026"/>
              <a:ext cx="1434567" cy="4947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r" rtl="1">
                <a:lnSpc>
                  <a:spcPts val="3895"/>
                </a:lnSpc>
                <a:buNone/>
              </a:pPr>
              <a:r>
                <a:rPr lang="ar-SA" sz="2996" b="1" dirty="0">
                  <a:solidFill>
                    <a:srgbClr val="F26B3A"/>
                  </a:solidFill>
                  <a:latin typeface="Dubai"/>
                  <a:ea typeface="Dubai"/>
                  <a:cs typeface="Dubai"/>
                </a:rPr>
                <a:t>٢٫١ يوم</a:t>
              </a:r>
              <a:endParaRPr lang="ar-SA" sz="2996" dirty="0"/>
            </a:p>
          </p:txBody>
        </p:sp>
        <p:sp>
          <p:nvSpPr>
            <p:cNvPr id="14" name="kpi2-label"/>
            <p:cNvSpPr txBox="1"/>
            <p:nvPr/>
          </p:nvSpPr>
          <p:spPr>
            <a:xfrm>
              <a:off x="7504963" y="2913380"/>
              <a:ext cx="1236955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r" rtl="1">
                <a:lnSpc>
                  <a:spcPts val="1400"/>
                </a:lnSpc>
                <a:buNone/>
              </a:pPr>
              <a:r>
                <a:rPr lang="ar-SA" sz="991" dirty="0">
                  <a:solidFill>
                    <a:srgbClr val="1B2340"/>
                  </a:solidFill>
                  <a:latin typeface="Segoe UI Semibold"/>
                  <a:ea typeface="Segoe UI Semibold"/>
                  <a:cs typeface="Segoe UI Semibold"/>
                </a:rPr>
                <a:t>متوسط مدة التوصيل</a:t>
              </a:r>
              <a:br>
                <a:rPr lang="ar-SA" sz="991" dirty="0"/>
              </a:br>
              <a:r>
                <a:rPr lang="ar-SA" sz="991" dirty="0">
                  <a:solidFill>
                    <a:srgbClr val="1B2340"/>
                  </a:solidFill>
                  <a:latin typeface="Segoe UI Semibold"/>
                  <a:ea typeface="Segoe UI Semibold"/>
                  <a:cs typeface="Segoe UI Semibold"/>
                </a:rPr>
                <a:t>(بدلاً من ٣٫٤ أيام)</a:t>
              </a:r>
              <a:endParaRPr lang="ar-SA" sz="991" dirty="0"/>
            </a:p>
          </p:txBody>
        </p:sp>
      </p:grpSp>
      <p:grpSp>
        <p:nvGrpSpPr>
          <p:cNvPr id="16" name="kpi3"/>
          <p:cNvGrpSpPr/>
          <p:nvPr/>
        </p:nvGrpSpPr>
        <p:grpSpPr>
          <a:xfrm>
            <a:off x="3943350" y="2165350"/>
            <a:ext cx="2400300" cy="1193800"/>
            <a:chOff x="3943350" y="2165350"/>
            <a:chExt cx="2400300" cy="1193800"/>
          </a:xfrm>
        </p:grpSpPr>
        <p:sp>
          <p:nvSpPr>
            <p:cNvPr id="15" name="kpi3-card"/>
            <p:cNvSpPr/>
            <p:nvPr/>
          </p:nvSpPr>
          <p:spPr>
            <a:xfrm>
              <a:off x="3943350" y="2165350"/>
              <a:ext cx="2400300" cy="119380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12700" cap="flat">
              <a:solidFill>
                <a:srgbClr val="E4E7F0"/>
              </a:solidFill>
            </a:ln>
          </p:spPr>
        </p:sp>
        <p:sp>
          <p:nvSpPr>
            <p:cNvPr id="17" name="kpi3-value"/>
            <p:cNvSpPr txBox="1"/>
            <p:nvPr/>
          </p:nvSpPr>
          <p:spPr>
            <a:xfrm>
              <a:off x="5147780" y="2321026"/>
              <a:ext cx="983717" cy="4947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r" rtl="1">
                <a:lnSpc>
                  <a:spcPts val="3895"/>
                </a:lnSpc>
                <a:buNone/>
              </a:pPr>
              <a:r>
                <a:rPr lang="ar-SA" sz="2996" b="1" dirty="0">
                  <a:solidFill>
                    <a:srgbClr val="F26B3A"/>
                  </a:solidFill>
                  <a:latin typeface="Dubai"/>
                  <a:ea typeface="Dubai"/>
                  <a:cs typeface="Dubai"/>
                </a:rPr>
                <a:t>٦٠٪</a:t>
              </a:r>
              <a:endParaRPr lang="ar-SA" sz="2996" dirty="0"/>
            </a:p>
          </p:txBody>
        </p:sp>
        <p:sp>
          <p:nvSpPr>
            <p:cNvPr id="18" name="kpi3-label"/>
            <p:cNvSpPr txBox="1"/>
            <p:nvPr/>
          </p:nvSpPr>
          <p:spPr>
            <a:xfrm>
              <a:off x="4888827" y="2913380"/>
              <a:ext cx="1236955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r" rtl="1">
                <a:lnSpc>
                  <a:spcPts val="1400"/>
                </a:lnSpc>
                <a:buNone/>
              </a:pPr>
              <a:r>
                <a:rPr lang="ar-SA" sz="991" dirty="0">
                  <a:solidFill>
                    <a:srgbClr val="1B2340"/>
                  </a:solidFill>
                  <a:latin typeface="Segoe UI Semibold"/>
                  <a:ea typeface="Segoe UI Semibold"/>
                  <a:cs typeface="Segoe UI Semibold"/>
                </a:rPr>
                <a:t>من الأسطول كهربائي</a:t>
              </a:r>
              <a:br>
                <a:rPr lang="ar-SA" sz="991" dirty="0"/>
              </a:br>
              <a:r>
                <a:rPr lang="ar-SA" sz="991" dirty="0">
                  <a:solidFill>
                    <a:srgbClr val="1B2340"/>
                  </a:solidFill>
                  <a:latin typeface="Segoe UI Semibold"/>
                  <a:ea typeface="Segoe UI Semibold"/>
                  <a:cs typeface="Segoe UI Semibold"/>
                </a:rPr>
                <a:t>(مقابل ٢٢٪)</a:t>
              </a:r>
              <a:endParaRPr lang="ar-SA" sz="991" dirty="0"/>
            </a:p>
          </p:txBody>
        </p:sp>
      </p:grpSp>
      <p:grpSp>
        <p:nvGrpSpPr>
          <p:cNvPr id="20" name="risks"/>
          <p:cNvGrpSpPr/>
          <p:nvPr/>
        </p:nvGrpSpPr>
        <p:grpSpPr>
          <a:xfrm>
            <a:off x="609600" y="2159000"/>
            <a:ext cx="3098800" cy="2730500"/>
            <a:chOff x="609600" y="2159000"/>
            <a:chExt cx="3098800" cy="2730500"/>
          </a:xfrm>
        </p:grpSpPr>
        <p:sp>
          <p:nvSpPr>
            <p:cNvPr id="19" name="risks-panel"/>
            <p:cNvSpPr/>
            <p:nvPr/>
          </p:nvSpPr>
          <p:spPr>
            <a:xfrm>
              <a:off x="609600" y="2159000"/>
              <a:ext cx="3098800" cy="2730500"/>
            </a:xfrm>
            <a:prstGeom prst="roundRect">
              <a:avLst>
                <a:gd name="adj" fmla="val 4186"/>
              </a:avLst>
            </a:prstGeom>
            <a:solidFill>
              <a:srgbClr val="1B2340"/>
            </a:solidFill>
            <a:ln>
              <a:noFill/>
            </a:ln>
          </p:spPr>
        </p:sp>
        <p:sp>
          <p:nvSpPr>
            <p:cNvPr id="21" name="risks-title"/>
            <p:cNvSpPr txBox="1"/>
            <p:nvPr/>
          </p:nvSpPr>
          <p:spPr>
            <a:xfrm>
              <a:off x="2430005" y="2370568"/>
              <a:ext cx="1028522" cy="233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r" rtl="1">
                <a:lnSpc>
                  <a:spcPts val="1840"/>
                </a:lnSpc>
                <a:buNone/>
              </a:pPr>
              <a:r>
                <a:rPr lang="ar-SA" sz="1416" b="1" dirty="0">
                  <a:solidFill>
                    <a:srgbClr val="FFFFFF"/>
                  </a:solidFill>
                  <a:latin typeface="Dubai"/>
                  <a:ea typeface="Dubai"/>
                  <a:cs typeface="Dubai"/>
                </a:rPr>
                <a:t>أبرز المخاطر</a:t>
              </a:r>
              <a:endParaRPr lang="ar-SA" sz="1416" dirty="0"/>
            </a:p>
          </p:txBody>
        </p:sp>
        <p:sp>
          <p:nvSpPr>
            <p:cNvPr id="22" name="risks-list"/>
            <p:cNvSpPr txBox="1"/>
            <p:nvPr/>
          </p:nvSpPr>
          <p:spPr>
            <a:xfrm>
              <a:off x="1440752" y="2712339"/>
              <a:ext cx="2002473" cy="1244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r" rtl="1" marL="197041" indent="-197041">
                <a:lnSpc>
                  <a:spcPts val="2450"/>
                </a:lnSpc>
                <a:buClr>
                  <a:srgbClr val="F26B3A"/>
                </a:buClr>
                <a:buSzPct val="125000"/>
                <a:buFont typeface="Arial"/>
                <a:buChar char="●"/>
              </a:pPr>
              <a:r>
                <a:rPr lang="ar-SA" sz="1055" dirty="0">
                  <a:solidFill>
                    <a:srgbClr val="D7DBEA"/>
                  </a:solidFill>
                  <a:latin typeface="Segoe UI"/>
                  <a:ea typeface="Segoe UI"/>
                  <a:cs typeface="Segoe UI"/>
                </a:rPr>
                <a:t>تأخر تسليم الشاحنات الكهربائية</a:t>
              </a:r>
              <a:endParaRPr lang="ar-SA" sz="1055" dirty="0"/>
            </a:p>
            <a:p>
              <a:pPr algn="r" rtl="1" marL="197041" indent="-197041">
                <a:lnSpc>
                  <a:spcPts val="2450"/>
                </a:lnSpc>
                <a:buClr>
                  <a:srgbClr val="F26B3A"/>
                </a:buClr>
                <a:buSzPct val="125000"/>
                <a:buFont typeface="Arial"/>
                <a:buChar char="●"/>
              </a:pPr>
              <a:r>
                <a:rPr lang="ar-SA" sz="1055" dirty="0">
                  <a:solidFill>
                    <a:srgbClr val="D7DBEA"/>
                  </a:solidFill>
                  <a:latin typeface="Segoe UI"/>
                  <a:ea typeface="Segoe UI"/>
                  <a:cs typeface="Segoe UI"/>
                </a:rPr>
                <a:t>نقص الفنيين المؤهلين</a:t>
              </a:r>
              <a:endParaRPr lang="ar-SA" sz="1055" dirty="0"/>
            </a:p>
            <a:p>
              <a:pPr algn="r" rtl="1" marL="197041" indent="-197041">
                <a:lnSpc>
                  <a:spcPts val="2450"/>
                </a:lnSpc>
                <a:buClr>
                  <a:srgbClr val="F26B3A"/>
                </a:buClr>
                <a:buSzPct val="125000"/>
                <a:buFont typeface="Arial"/>
                <a:buChar char="●"/>
              </a:pPr>
              <a:r>
                <a:rPr lang="ar-SA" sz="1055" dirty="0">
                  <a:solidFill>
                    <a:srgbClr val="D7DBEA"/>
                  </a:solidFill>
                  <a:latin typeface="Segoe UI"/>
                  <a:ea typeface="Segoe UI"/>
                  <a:cs typeface="Segoe UI"/>
                </a:rPr>
                <a:t>ارتفاع أسعار الطاقة في الشتاء</a:t>
              </a:r>
              <a:endParaRPr lang="ar-SA" sz="1055" dirty="0"/>
            </a:p>
            <a:p>
              <a:pPr algn="r" rtl="1" marL="197041" indent="-197041">
                <a:lnSpc>
                  <a:spcPts val="2450"/>
                </a:lnSpc>
                <a:buClr>
                  <a:srgbClr val="F26B3A"/>
                </a:buClr>
                <a:buSzPct val="125000"/>
                <a:buFont typeface="Arial"/>
                <a:buChar char="●"/>
              </a:pPr>
              <a:r>
                <a:rPr lang="ar-SA" sz="1055" dirty="0">
                  <a:solidFill>
                    <a:srgbClr val="D7DBEA"/>
                  </a:solidFill>
                  <a:latin typeface="Segoe UI"/>
                  <a:ea typeface="Segoe UI"/>
                  <a:cs typeface="Segoe UI"/>
                </a:rPr>
                <a:t>تصاريح بناء المراكز الإقليمية</a:t>
              </a:r>
              <a:endParaRPr lang="ar-SA" sz="1055" dirty="0"/>
            </a:p>
          </p:txBody>
        </p:sp>
      </p:grpSp>
      <p:sp>
        <p:nvSpPr>
          <p:cNvPr id="23" name="roadmap-label"/>
          <p:cNvSpPr txBox="1"/>
          <p:nvPr/>
        </p:nvSpPr>
        <p:spPr>
          <a:xfrm>
            <a:off x="10325252" y="3723240"/>
            <a:ext cx="1259180" cy="174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r" rtl="1">
              <a:lnSpc>
                <a:spcPts val="1370"/>
              </a:lnSpc>
              <a:buNone/>
            </a:pPr>
            <a:r>
              <a:rPr lang="ar-SA" sz="1054" dirty="0">
                <a:solidFill>
                  <a:srgbClr val="6B7392"/>
                </a:solidFill>
                <a:latin typeface="Segoe UI Semibold"/>
                <a:ea typeface="Segoe UI Semibold"/>
                <a:cs typeface="Segoe UI Semibold"/>
              </a:rPr>
              <a:t>خارطة الطريق 2027</a:t>
            </a:r>
            <a:endParaRPr lang="ar-SA" sz="1054" dirty="0"/>
          </a:p>
        </p:txBody>
      </p:sp>
      <p:sp>
        <p:nvSpPr>
          <p:cNvPr id="24" name="q1-bar"/>
          <p:cNvSpPr/>
          <p:nvPr/>
        </p:nvSpPr>
        <p:spPr>
          <a:xfrm flipH="1">
            <a:off x="9677400" y="4000500"/>
            <a:ext cx="1905000" cy="457200"/>
          </a:xfrm>
          <a:prstGeom prst="homePlate">
            <a:avLst>
              <a:gd name="adj" fmla="val 38889"/>
            </a:avLst>
          </a:prstGeom>
          <a:solidFill>
            <a:srgbClr val="F26B3A"/>
          </a:solidFill>
          <a:ln>
            <a:noFill/>
          </a:ln>
        </p:spPr>
      </p:sp>
      <p:sp>
        <p:nvSpPr>
          <p:cNvPr id="25" name="q1-label"/>
          <p:cNvSpPr txBox="1"/>
          <p:nvPr/>
        </p:nvSpPr>
        <p:spPr>
          <a:xfrm>
            <a:off x="10259841" y="4148633"/>
            <a:ext cx="741578" cy="1842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 rtl="1">
              <a:lnSpc>
                <a:spcPts val="1451"/>
              </a:lnSpc>
              <a:buNone/>
            </a:pPr>
            <a:r>
              <a:rPr lang="ar-SA" sz="1116" dirty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الربع الأول</a:t>
            </a:r>
            <a:endParaRPr lang="ar-SA" sz="1116" dirty="0"/>
          </a:p>
        </p:txBody>
      </p:sp>
      <p:sp>
        <p:nvSpPr>
          <p:cNvPr id="26" name="q1-text"/>
          <p:cNvSpPr txBox="1"/>
          <p:nvPr/>
        </p:nvSpPr>
        <p:spPr>
          <a:xfrm>
            <a:off x="10287190" y="4588256"/>
            <a:ext cx="1213866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r" rtl="1">
              <a:lnSpc>
                <a:spcPts val="1350"/>
              </a:lnSpc>
              <a:buNone/>
            </a:pPr>
            <a:r>
              <a:rPr lang="ar-SA" sz="965" dirty="0">
                <a:solidFill>
                  <a:srgbClr val="59617E"/>
                </a:solidFill>
                <a:latin typeface="Segoe UI"/>
                <a:ea typeface="Segoe UI"/>
                <a:cs typeface="Segoe UI"/>
              </a:rPr>
              <a:t>تشغيل خط الفرز الآلي</a:t>
            </a:r>
            <a:br>
              <a:rPr lang="ar-SA" sz="965" dirty="0"/>
            </a:br>
            <a:r>
              <a:rPr lang="ar-SA" sz="965" dirty="0">
                <a:solidFill>
                  <a:srgbClr val="59617E"/>
                </a:solidFill>
                <a:latin typeface="Segoe UI"/>
                <a:ea typeface="Segoe UI"/>
                <a:cs typeface="Segoe UI"/>
              </a:rPr>
              <a:t>في المركز الرئيسي</a:t>
            </a:r>
            <a:endParaRPr lang="ar-SA" sz="965" dirty="0"/>
          </a:p>
        </p:txBody>
      </p:sp>
      <p:sp>
        <p:nvSpPr>
          <p:cNvPr id="27" name="q2-bar"/>
          <p:cNvSpPr/>
          <p:nvPr/>
        </p:nvSpPr>
        <p:spPr>
          <a:xfrm flipH="1">
            <a:off x="7874000" y="4000500"/>
            <a:ext cx="1905000" cy="457200"/>
          </a:xfrm>
          <a:prstGeom prst="chevron">
            <a:avLst>
              <a:gd name="adj" fmla="val 38889"/>
            </a:avLst>
          </a:prstGeom>
          <a:solidFill>
            <a:srgbClr val="1B2340"/>
          </a:solidFill>
          <a:ln>
            <a:noFill/>
          </a:ln>
        </p:spPr>
      </p:sp>
      <p:sp>
        <p:nvSpPr>
          <p:cNvPr id="28" name="q2-label"/>
          <p:cNvSpPr txBox="1"/>
          <p:nvPr/>
        </p:nvSpPr>
        <p:spPr>
          <a:xfrm>
            <a:off x="8431041" y="4146664"/>
            <a:ext cx="792378" cy="1842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 rtl="1">
              <a:lnSpc>
                <a:spcPts val="1451"/>
              </a:lnSpc>
              <a:buNone/>
            </a:pPr>
            <a:r>
              <a:rPr lang="ar-SA" sz="1116" dirty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الربع الثاني</a:t>
            </a:r>
            <a:endParaRPr lang="ar-SA" sz="1116" dirty="0"/>
          </a:p>
        </p:txBody>
      </p:sp>
      <p:sp>
        <p:nvSpPr>
          <p:cNvPr id="29" name="q2-text"/>
          <p:cNvSpPr txBox="1"/>
          <p:nvPr/>
        </p:nvSpPr>
        <p:spPr>
          <a:xfrm>
            <a:off x="8544370" y="4588891"/>
            <a:ext cx="1150366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r" rtl="1">
              <a:lnSpc>
                <a:spcPts val="1350"/>
              </a:lnSpc>
              <a:buNone/>
            </a:pPr>
            <a:r>
              <a:rPr lang="ar-SA" sz="965" dirty="0">
                <a:solidFill>
                  <a:srgbClr val="59617E"/>
                </a:solidFill>
                <a:latin typeface="Segoe UI"/>
                <a:ea typeface="Segoe UI"/>
                <a:cs typeface="Segoe UI"/>
              </a:rPr>
              <a:t>استلام أول ١٢٠ شاحنة</a:t>
            </a:r>
            <a:br>
              <a:rPr lang="ar-SA" sz="965" dirty="0"/>
            </a:br>
            <a:r>
              <a:rPr lang="ar-SA" sz="965" dirty="0">
                <a:solidFill>
                  <a:srgbClr val="59617E"/>
                </a:solidFill>
                <a:latin typeface="Segoe UI"/>
                <a:ea typeface="Segoe UI"/>
                <a:cs typeface="Segoe UI"/>
              </a:rPr>
              <a:t>كهربائية</a:t>
            </a:r>
            <a:endParaRPr lang="ar-SA" sz="965" dirty="0"/>
          </a:p>
        </p:txBody>
      </p:sp>
      <p:sp>
        <p:nvSpPr>
          <p:cNvPr id="30" name="q3-bar"/>
          <p:cNvSpPr/>
          <p:nvPr/>
        </p:nvSpPr>
        <p:spPr>
          <a:xfrm flipH="1">
            <a:off x="6070600" y="4000500"/>
            <a:ext cx="1905000" cy="457200"/>
          </a:xfrm>
          <a:prstGeom prst="chevron">
            <a:avLst>
              <a:gd name="adj" fmla="val 38889"/>
            </a:avLst>
          </a:prstGeom>
          <a:solidFill>
            <a:srgbClr val="3A4470"/>
          </a:solidFill>
          <a:ln>
            <a:noFill/>
          </a:ln>
        </p:spPr>
      </p:sp>
      <p:sp>
        <p:nvSpPr>
          <p:cNvPr id="31" name="q3-label"/>
          <p:cNvSpPr txBox="1"/>
          <p:nvPr/>
        </p:nvSpPr>
        <p:spPr>
          <a:xfrm>
            <a:off x="6621640" y="4147363"/>
            <a:ext cx="805078" cy="1842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 rtl="1">
              <a:lnSpc>
                <a:spcPts val="1451"/>
              </a:lnSpc>
              <a:buNone/>
            </a:pPr>
            <a:r>
              <a:rPr lang="ar-SA" sz="1116" dirty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الربع الثالث</a:t>
            </a:r>
            <a:endParaRPr lang="ar-SA" sz="1116" dirty="0"/>
          </a:p>
        </p:txBody>
      </p:sp>
      <p:sp>
        <p:nvSpPr>
          <p:cNvPr id="32" name="q3-text"/>
          <p:cNvSpPr txBox="1"/>
          <p:nvPr/>
        </p:nvSpPr>
        <p:spPr>
          <a:xfrm>
            <a:off x="6715570" y="4588891"/>
            <a:ext cx="1175766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r" rtl="1">
              <a:lnSpc>
                <a:spcPts val="1350"/>
              </a:lnSpc>
              <a:buNone/>
            </a:pPr>
            <a:r>
              <a:rPr lang="ar-SA" sz="965" dirty="0">
                <a:solidFill>
                  <a:srgbClr val="59617E"/>
                </a:solidFill>
                <a:latin typeface="Segoe UI"/>
                <a:ea typeface="Segoe UI"/>
                <a:cs typeface="Segoe UI"/>
              </a:rPr>
              <a:t>افتتاح المركز الإقليمي</a:t>
            </a:r>
            <a:br>
              <a:rPr lang="ar-SA" sz="965" dirty="0"/>
            </a:br>
            <a:r>
              <a:rPr lang="ar-SA" sz="965" dirty="0">
                <a:solidFill>
                  <a:srgbClr val="59617E"/>
                </a:solidFill>
                <a:latin typeface="Segoe UI"/>
                <a:ea typeface="Segoe UI"/>
                <a:cs typeface="Segoe UI"/>
              </a:rPr>
              <a:t>الشمالي</a:t>
            </a:r>
            <a:endParaRPr lang="ar-SA" sz="965" dirty="0"/>
          </a:p>
        </p:txBody>
      </p:sp>
      <p:sp>
        <p:nvSpPr>
          <p:cNvPr id="33" name="q4-bar"/>
          <p:cNvSpPr/>
          <p:nvPr/>
        </p:nvSpPr>
        <p:spPr>
          <a:xfrm flipH="1">
            <a:off x="4267200" y="4000500"/>
            <a:ext cx="1905000" cy="457200"/>
          </a:xfrm>
          <a:prstGeom prst="chevron">
            <a:avLst>
              <a:gd name="adj" fmla="val 38889"/>
            </a:avLst>
          </a:prstGeom>
          <a:solidFill>
            <a:srgbClr val="59617E"/>
          </a:solidFill>
          <a:ln>
            <a:noFill/>
          </a:ln>
        </p:spPr>
      </p:sp>
      <p:sp>
        <p:nvSpPr>
          <p:cNvPr id="34" name="q4-label"/>
          <p:cNvSpPr txBox="1"/>
          <p:nvPr/>
        </p:nvSpPr>
        <p:spPr>
          <a:xfrm>
            <a:off x="4839735" y="4138028"/>
            <a:ext cx="760628" cy="1842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 rtl="1">
              <a:lnSpc>
                <a:spcPts val="1451"/>
              </a:lnSpc>
              <a:buNone/>
            </a:pPr>
            <a:r>
              <a:rPr lang="ar-SA" sz="1116" dirty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الربع الرابع</a:t>
            </a:r>
            <a:endParaRPr lang="ar-SA" sz="1116" dirty="0"/>
          </a:p>
        </p:txBody>
      </p:sp>
      <p:sp>
        <p:nvSpPr>
          <p:cNvPr id="35" name="q4-text"/>
          <p:cNvSpPr txBox="1"/>
          <p:nvPr/>
        </p:nvSpPr>
        <p:spPr>
          <a:xfrm>
            <a:off x="4912170" y="4588891"/>
            <a:ext cx="1175766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r" rtl="1">
              <a:lnSpc>
                <a:spcPts val="1350"/>
              </a:lnSpc>
              <a:buNone/>
            </a:pPr>
            <a:r>
              <a:rPr lang="ar-SA" sz="965" dirty="0">
                <a:solidFill>
                  <a:srgbClr val="59617E"/>
                </a:solidFill>
                <a:latin typeface="Segoe UI"/>
                <a:ea typeface="Segoe UI"/>
                <a:cs typeface="Segoe UI"/>
              </a:rPr>
              <a:t>افتتاح المركز الإقليمي</a:t>
            </a:r>
            <a:br>
              <a:rPr lang="ar-SA" sz="965" dirty="0"/>
            </a:br>
            <a:r>
              <a:rPr lang="ar-SA" sz="965" dirty="0">
                <a:solidFill>
                  <a:srgbClr val="59617E"/>
                </a:solidFill>
                <a:latin typeface="Segoe UI"/>
                <a:ea typeface="Segoe UI"/>
                <a:cs typeface="Segoe UI"/>
              </a:rPr>
              <a:t>الجنوبي</a:t>
            </a:r>
            <a:endParaRPr lang="ar-SA" sz="965" dirty="0"/>
          </a:p>
        </p:txBody>
      </p:sp>
      <p:cxnSp>
        <p:nvCxnSpPr>
          <p:cNvPr id="36" name="footer-rule"/>
          <p:cNvCxnSpPr/>
          <p:nvPr/>
        </p:nvCxnSpPr>
        <p:spPr>
          <a:xfrm>
            <a:off x="609600" y="6292850"/>
            <a:ext cx="10972800" cy="0"/>
          </a:xfrm>
          <a:prstGeom prst="line">
            <a:avLst/>
          </a:prstGeom>
          <a:ln w="12700" cap="flat">
            <a:solidFill>
              <a:srgbClr val="E4E7F0"/>
            </a:solidFill>
          </a:ln>
        </p:spPr>
      </p:cxnSp>
      <p:sp>
        <p:nvSpPr>
          <p:cNvPr id="37" name="footer"/>
          <p:cNvSpPr txBox="1"/>
          <p:nvPr/>
        </p:nvSpPr>
        <p:spPr>
          <a:xfrm>
            <a:off x="8878976" y="6422006"/>
            <a:ext cx="2706218" cy="1319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r" rtl="1">
              <a:lnSpc>
                <a:spcPts val="1039"/>
              </a:lnSpc>
              <a:buNone/>
            </a:pPr>
            <a:r>
              <a:rPr lang="ar-SA" sz="799" dirty="0">
                <a:solidFill>
                  <a:srgbClr val="8A91AB"/>
                </a:solidFill>
                <a:latin typeface="Segoe UI"/>
                <a:ea typeface="Segoe UI"/>
                <a:cs typeface="Segoe UI"/>
              </a:rPr>
              <a:t>المصدر: بيانات العمليات الداخلية، سبتمبر 2026. أرقام توضيحية.</a:t>
            </a:r>
            <a:endParaRPr lang="ar-SA" sz="79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unscreenshot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Naseem Logistics - Operations Plan 2027</dc:title>
  <dc:creator>unscreenshot</dc:creator>
  <dcterms:created xsi:type="dcterms:W3CDTF">2026-10-09T10:29:52Z</dcterms:created>
  <dcterms:modified xsi:type="dcterms:W3CDTF">2026-10-09T10:29:52Z</dcterms:modified>
</cp:coreProperties>
</file>