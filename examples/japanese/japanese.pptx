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B2340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7504" y="288031"/>
            <a:ext cx="2181123" cy="16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272"/>
              </a:lnSpc>
              <a:buNone/>
            </a:pPr>
            <a:r>
              <a:rPr lang="ja-JP" sz="978" b="1" spc="78" dirty="0">
                <a:solidFill>
                  <a:srgbClr val="6B7392"/>
                </a:solidFill>
                <a:latin typeface="Yu Gothic"/>
                <a:ea typeface="Yu Gothic"/>
                <a:cs typeface="Yu Gothic"/>
              </a:rPr>
              <a:t>さくら物流 ｜ </a:t>
            </a:r>
            <a:r>
              <a:rPr lang="ja-JP" sz="978" b="1" spc="78" dirty="0">
                <a:solidFill>
                  <a:srgbClr val="F26B3A"/>
                </a:solidFill>
                <a:latin typeface="Yu Gothic"/>
                <a:ea typeface="Yu Gothic"/>
                <a:cs typeface="Yu Gothic"/>
              </a:rPr>
              <a:t>2027年度 事業計画</a:t>
            </a:r>
            <a:endParaRPr lang="ja-JP" sz="978" dirty="0"/>
          </a:p>
        </p:txBody>
      </p:sp>
      <p:sp>
        <p:nvSpPr>
          <p:cNvPr id="4" name="page-number"/>
          <p:cNvSpPr txBox="1"/>
          <p:nvPr/>
        </p:nvSpPr>
        <p:spPr>
          <a:xfrm>
            <a:off x="11317059" y="296478"/>
            <a:ext cx="270104" cy="1550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221"/>
              </a:lnSpc>
              <a:buNone/>
            </a:pPr>
            <a:r>
              <a:rPr lang="ja-JP" sz="939" b="1" dirty="0">
                <a:solidFill>
                  <a:srgbClr val="6B7392"/>
                </a:solidFill>
                <a:latin typeface="Yu Gothic"/>
                <a:ea typeface="Yu Gothic"/>
                <a:cs typeface="Yu Gothic"/>
              </a:rPr>
              <a:t>04</a:t>
            </a:r>
            <a:endParaRPr lang="ja-JP" sz="939" dirty="0"/>
          </a:p>
        </p:txBody>
      </p:sp>
      <p:sp>
        <p:nvSpPr>
          <p:cNvPr id="5" name="title"/>
          <p:cNvSpPr txBox="1"/>
          <p:nvPr/>
        </p:nvSpPr>
        <p:spPr>
          <a:xfrm>
            <a:off x="610489" y="631825"/>
            <a:ext cx="6378169" cy="901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550"/>
              </a:lnSpc>
              <a:buNone/>
            </a:pPr>
            <a:r>
              <a:rPr lang="ja-JP" sz="2602" b="1" dirty="0">
                <a:solidFill>
                  <a:srgbClr val="1B2340"/>
                </a:solidFill>
                <a:latin typeface="Yu Gothic"/>
                <a:ea typeface="Yu Gothic"/>
                <a:cs typeface="Yu Gothic"/>
              </a:rPr>
              <a:t>配送を速く、1個あたりのコストを低く：</a:t>
            </a:r>
            <a:br>
              <a:rPr lang="ja-JP" sz="2602" dirty="0"/>
            </a:br>
            <a:r>
              <a:rPr lang="ja-JP" sz="2602" b="1" dirty="0">
                <a:solidFill>
                  <a:srgbClr val="1B2340"/>
                </a:solidFill>
                <a:latin typeface="Yu Gothic"/>
                <a:ea typeface="Yu Gothic"/>
                <a:cs typeface="Yu Gothic"/>
              </a:rPr>
              <a:t>来年に向けた3つの施策</a:t>
            </a:r>
            <a:endParaRPr lang="ja-JP" sz="2602" dirty="0"/>
          </a:p>
        </p:txBody>
      </p:sp>
      <p:sp>
        <p:nvSpPr>
          <p:cNvPr id="6" name="subtitle"/>
          <p:cNvSpPr txBox="1"/>
          <p:nvPr/>
        </p:nvSpPr>
        <p:spPr>
          <a:xfrm>
            <a:off x="604076" y="1633247"/>
            <a:ext cx="5619521" cy="206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623"/>
              </a:lnSpc>
              <a:buNone/>
            </a:pPr>
            <a:r>
              <a:rPr lang="ja-JP" sz="1248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自動仕分けを倍増し、EV バンへの移行を進め、地域ハブを2か所開設します。</a:t>
            </a:r>
            <a:endParaRPr lang="ja-JP" sz="1248" dirty="0"/>
          </a:p>
        </p:txBody>
      </p:sp>
      <p:grpSp>
        <p:nvGrpSpPr>
          <p:cNvPr id="8" name="kpi1"/>
          <p:cNvGrpSpPr/>
          <p:nvPr/>
        </p:nvGrpSpPr>
        <p:grpSpPr>
          <a:xfrm>
            <a:off x="615950" y="2165350"/>
            <a:ext cx="2400300" cy="1193800"/>
            <a:chOff x="615950" y="2165350"/>
            <a:chExt cx="2400300" cy="1193800"/>
          </a:xfrm>
        </p:grpSpPr>
        <p:sp>
          <p:nvSpPr>
            <p:cNvPr id="7" name="kpi1-card"/>
            <p:cNvSpPr/>
            <p:nvPr/>
          </p:nvSpPr>
          <p:spPr>
            <a:xfrm>
              <a:off x="6159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9" name="kpi1-value"/>
            <p:cNvSpPr txBox="1"/>
            <p:nvPr/>
          </p:nvSpPr>
          <p:spPr>
            <a:xfrm>
              <a:off x="824166" y="2338984"/>
              <a:ext cx="1334719" cy="4966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910"/>
                </a:lnSpc>
                <a:buNone/>
              </a:pPr>
              <a:r>
                <a:rPr lang="ja-JP" sz="3008" b="1" dirty="0">
                  <a:solidFill>
                    <a:srgbClr val="F26B3A"/>
                  </a:solidFill>
                  <a:latin typeface="Yu Gothic"/>
                  <a:ea typeface="Yu Gothic"/>
                  <a:cs typeface="Yu Gothic"/>
                </a:rPr>
                <a:t>-18%</a:t>
              </a:r>
              <a:endParaRPr lang="ja-JP" sz="3008" dirty="0"/>
            </a:p>
          </p:txBody>
        </p:sp>
        <p:sp>
          <p:nvSpPr>
            <p:cNvPr id="10" name="kpi1-label"/>
            <p:cNvSpPr txBox="1"/>
            <p:nvPr/>
          </p:nvSpPr>
          <p:spPr>
            <a:xfrm>
              <a:off x="832866" y="2900870"/>
              <a:ext cx="141607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buNone/>
              </a:pP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1個あたりの配送コスト</a:t>
              </a:r>
              <a:br>
                <a:rPr lang="ja-JP" sz="959" dirty="0"/>
              </a:b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（2027年第4四半期まで）</a:t>
              </a:r>
              <a:endParaRPr lang="ja-JP" sz="959" dirty="0"/>
            </a:p>
          </p:txBody>
        </p:sp>
      </p:grpSp>
      <p:grpSp>
        <p:nvGrpSpPr>
          <p:cNvPr id="12" name="kpi2"/>
          <p:cNvGrpSpPr/>
          <p:nvPr/>
        </p:nvGrpSpPr>
        <p:grpSpPr>
          <a:xfrm>
            <a:off x="3232150" y="2165350"/>
            <a:ext cx="2400300" cy="1193800"/>
            <a:chOff x="3232150" y="2165350"/>
            <a:chExt cx="2400300" cy="1193800"/>
          </a:xfrm>
        </p:grpSpPr>
        <p:sp>
          <p:nvSpPr>
            <p:cNvPr id="11" name="kpi2-card"/>
            <p:cNvSpPr/>
            <p:nvPr/>
          </p:nvSpPr>
          <p:spPr>
            <a:xfrm>
              <a:off x="32321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3" name="kpi2-value"/>
            <p:cNvSpPr txBox="1"/>
            <p:nvPr/>
          </p:nvSpPr>
          <p:spPr>
            <a:xfrm>
              <a:off x="3437192" y="2347620"/>
              <a:ext cx="1302969" cy="4966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910"/>
                </a:lnSpc>
                <a:buNone/>
              </a:pPr>
              <a:r>
                <a:rPr lang="ja-JP" sz="3008" b="1" dirty="0">
                  <a:solidFill>
                    <a:srgbClr val="F26B3A"/>
                  </a:solidFill>
                  <a:latin typeface="Yu Gothic"/>
                  <a:ea typeface="Yu Gothic"/>
                  <a:cs typeface="Yu Gothic"/>
                </a:rPr>
                <a:t>2.1日</a:t>
              </a:r>
              <a:endParaRPr lang="ja-JP" sz="3008" dirty="0"/>
            </a:p>
          </p:txBody>
        </p:sp>
        <p:sp>
          <p:nvSpPr>
            <p:cNvPr id="14" name="kpi2-label"/>
            <p:cNvSpPr txBox="1"/>
            <p:nvPr/>
          </p:nvSpPr>
          <p:spPr>
            <a:xfrm>
              <a:off x="3452812" y="2905316"/>
              <a:ext cx="8636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buNone/>
              </a:pP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平均配送日数</a:t>
              </a:r>
              <a:br>
                <a:rPr lang="ja-JP" sz="959" dirty="0"/>
              </a:b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（現在 3.4日）</a:t>
              </a:r>
              <a:endParaRPr lang="ja-JP" sz="959" dirty="0"/>
            </a:p>
          </p:txBody>
        </p:sp>
      </p:grpSp>
      <p:grpSp>
        <p:nvGrpSpPr>
          <p:cNvPr id="16" name="kpi3"/>
          <p:cNvGrpSpPr/>
          <p:nvPr/>
        </p:nvGrpSpPr>
        <p:grpSpPr>
          <a:xfrm>
            <a:off x="5848350" y="2165350"/>
            <a:ext cx="2400300" cy="1193800"/>
            <a:chOff x="5848350" y="2165350"/>
            <a:chExt cx="2400300" cy="1193800"/>
          </a:xfrm>
        </p:grpSpPr>
        <p:sp>
          <p:nvSpPr>
            <p:cNvPr id="15" name="kpi3-card"/>
            <p:cNvSpPr/>
            <p:nvPr/>
          </p:nvSpPr>
          <p:spPr>
            <a:xfrm>
              <a:off x="5848350" y="21653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7" name="kpi3-value"/>
            <p:cNvSpPr txBox="1"/>
            <p:nvPr/>
          </p:nvSpPr>
          <p:spPr>
            <a:xfrm>
              <a:off x="6057836" y="2338984"/>
              <a:ext cx="1182319" cy="4966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910"/>
                </a:lnSpc>
                <a:buNone/>
              </a:pPr>
              <a:r>
                <a:rPr lang="ja-JP" sz="3008" b="1" dirty="0">
                  <a:solidFill>
                    <a:srgbClr val="F26B3A"/>
                  </a:solidFill>
                  <a:latin typeface="Yu Gothic"/>
                  <a:ea typeface="Yu Gothic"/>
                  <a:cs typeface="Yu Gothic"/>
                </a:rPr>
                <a:t>60%</a:t>
              </a:r>
              <a:endParaRPr lang="ja-JP" sz="3008" dirty="0"/>
            </a:p>
          </p:txBody>
        </p:sp>
        <p:sp>
          <p:nvSpPr>
            <p:cNvPr id="18" name="kpi3-label"/>
            <p:cNvSpPr txBox="1"/>
            <p:nvPr/>
          </p:nvSpPr>
          <p:spPr>
            <a:xfrm>
              <a:off x="6069902" y="2903474"/>
              <a:ext cx="128272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buNone/>
              </a:pP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EV 化した車両の比率</a:t>
              </a:r>
              <a:br>
                <a:rPr lang="ja-JP" sz="959" dirty="0"/>
              </a:br>
              <a:r>
                <a:rPr lang="ja-JP" sz="959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（現在 22%）</a:t>
              </a:r>
              <a:endParaRPr lang="ja-JP" sz="959" dirty="0"/>
            </a:p>
          </p:txBody>
        </p:sp>
      </p:grpSp>
      <p:grpSp>
        <p:nvGrpSpPr>
          <p:cNvPr id="20" name="risks"/>
          <p:cNvGrpSpPr/>
          <p:nvPr/>
        </p:nvGrpSpPr>
        <p:grpSpPr>
          <a:xfrm>
            <a:off x="8483600" y="2159000"/>
            <a:ext cx="3098800" cy="2730500"/>
            <a:chOff x="8483600" y="2159000"/>
            <a:chExt cx="3098800" cy="2730500"/>
          </a:xfrm>
        </p:grpSpPr>
        <p:sp>
          <p:nvSpPr>
            <p:cNvPr id="19" name="risks-panel"/>
            <p:cNvSpPr/>
            <p:nvPr/>
          </p:nvSpPr>
          <p:spPr>
            <a:xfrm>
              <a:off x="8483600" y="2159000"/>
              <a:ext cx="3098800" cy="2730500"/>
            </a:xfrm>
            <a:prstGeom prst="roundRect">
              <a:avLst>
                <a:gd name="adj" fmla="val 4186"/>
              </a:avLst>
            </a:prstGeom>
            <a:solidFill>
              <a:srgbClr val="1B2340"/>
            </a:solidFill>
            <a:ln>
              <a:noFill/>
            </a:ln>
          </p:spPr>
        </p:sp>
        <p:sp>
          <p:nvSpPr>
            <p:cNvPr id="21" name="risks-title"/>
            <p:cNvSpPr txBox="1"/>
            <p:nvPr/>
          </p:nvSpPr>
          <p:spPr>
            <a:xfrm>
              <a:off x="8734742" y="2398697"/>
              <a:ext cx="1000506" cy="217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10"/>
                </a:lnSpc>
                <a:buNone/>
              </a:pPr>
              <a:r>
                <a:rPr lang="ja-JP" sz="1315" b="1" dirty="0">
                  <a:solidFill>
                    <a:srgbClr val="FFFFFF"/>
                  </a:solidFill>
                  <a:latin typeface="Yu Gothic"/>
                  <a:ea typeface="Yu Gothic"/>
                  <a:cs typeface="Yu Gothic"/>
                </a:rPr>
                <a:t>主なリスク</a:t>
              </a:r>
              <a:endParaRPr lang="ja-JP" sz="1315" dirty="0"/>
            </a:p>
          </p:txBody>
        </p:sp>
        <p:sp>
          <p:nvSpPr>
            <p:cNvPr id="22" name="risks-list"/>
            <p:cNvSpPr txBox="1"/>
            <p:nvPr/>
          </p:nvSpPr>
          <p:spPr>
            <a:xfrm>
              <a:off x="8749474" y="2702624"/>
              <a:ext cx="199431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 marL="203391" indent="-203391">
                <a:lnSpc>
                  <a:spcPts val="240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ja-JP" sz="1002" dirty="0">
                  <a:solidFill>
                    <a:srgbClr val="D7DBEA"/>
                  </a:solidFill>
                  <a:latin typeface="Yu Gothic"/>
                  <a:ea typeface="Yu Gothic"/>
                  <a:cs typeface="Yu Gothic"/>
                </a:rPr>
                <a:t>EV バンの納車遅延</a:t>
              </a:r>
              <a:endParaRPr lang="ja-JP" sz="1002" dirty="0"/>
            </a:p>
            <a:p>
              <a:pPr algn="l" marL="203391" indent="-203391">
                <a:lnSpc>
                  <a:spcPts val="240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ja-JP" sz="1002" dirty="0">
                  <a:solidFill>
                    <a:srgbClr val="D7DBEA"/>
                  </a:solidFill>
                  <a:latin typeface="Yu Gothic"/>
                  <a:ea typeface="Yu Gothic"/>
                  <a:cs typeface="Yu Gothic"/>
                </a:rPr>
                <a:t>整備士の不足</a:t>
              </a:r>
              <a:endParaRPr lang="ja-JP" sz="1002" dirty="0"/>
            </a:p>
            <a:p>
              <a:pPr algn="l" marL="203391" indent="-203391">
                <a:lnSpc>
                  <a:spcPts val="240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ja-JP" sz="1002" dirty="0">
                  <a:solidFill>
                    <a:srgbClr val="D7DBEA"/>
                  </a:solidFill>
                  <a:latin typeface="Yu Gothic"/>
                  <a:ea typeface="Yu Gothic"/>
                  <a:cs typeface="Yu Gothic"/>
                </a:rPr>
                <a:t>冬季のエネルギー価格の上昇</a:t>
              </a:r>
              <a:endParaRPr lang="ja-JP" sz="1002" dirty="0"/>
            </a:p>
            <a:p>
              <a:pPr algn="l" marL="203391" indent="-203391">
                <a:lnSpc>
                  <a:spcPts val="240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ja-JP" sz="1002" dirty="0">
                  <a:solidFill>
                    <a:srgbClr val="D7DBEA"/>
                  </a:solidFill>
                  <a:latin typeface="Yu Gothic"/>
                  <a:ea typeface="Yu Gothic"/>
                  <a:cs typeface="Yu Gothic"/>
                </a:rPr>
                <a:t>地域ハブの建築許可</a:t>
              </a:r>
              <a:endParaRPr lang="ja-JP" sz="1002" dirty="0"/>
            </a:p>
          </p:txBody>
        </p:sp>
      </p:grpSp>
      <p:sp>
        <p:nvSpPr>
          <p:cNvPr id="23" name="roadmap-label"/>
          <p:cNvSpPr txBox="1"/>
          <p:nvPr/>
        </p:nvSpPr>
        <p:spPr>
          <a:xfrm>
            <a:off x="605917" y="3727283"/>
            <a:ext cx="1284097" cy="159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258"/>
              </a:lnSpc>
              <a:buNone/>
            </a:pPr>
            <a:r>
              <a:rPr lang="ja-JP" sz="968" b="1" spc="88" dirty="0">
                <a:solidFill>
                  <a:srgbClr val="6B7392"/>
                </a:solidFill>
                <a:latin typeface="Yu Gothic"/>
                <a:ea typeface="Yu Gothic"/>
                <a:cs typeface="Yu Gothic"/>
              </a:rPr>
              <a:t>ロードマップ 2027</a:t>
            </a:r>
            <a:endParaRPr lang="ja-JP" sz="968" dirty="0"/>
          </a:p>
        </p:txBody>
      </p:sp>
      <p:sp>
        <p:nvSpPr>
          <p:cNvPr id="24" name="q1-bar"/>
          <p:cNvSpPr/>
          <p:nvPr/>
        </p:nvSpPr>
        <p:spPr>
          <a:xfrm>
            <a:off x="609600" y="4000500"/>
            <a:ext cx="1905000" cy="457200"/>
          </a:xfrm>
          <a:prstGeom prst="homePlate">
            <a:avLst>
              <a:gd name="adj" fmla="val 38889"/>
            </a:avLst>
          </a:prstGeom>
          <a:solidFill>
            <a:srgbClr val="F26B3A"/>
          </a:solidFill>
          <a:ln>
            <a:noFill/>
          </a:ln>
        </p:spPr>
      </p:sp>
      <p:sp>
        <p:nvSpPr>
          <p:cNvPr id="25" name="q1-label"/>
          <p:cNvSpPr txBox="1"/>
          <p:nvPr/>
        </p:nvSpPr>
        <p:spPr>
          <a:xfrm>
            <a:off x="1179436" y="4142505"/>
            <a:ext cx="765708" cy="175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386"/>
              </a:lnSpc>
              <a:buNone/>
            </a:pPr>
            <a:r>
              <a:rPr lang="ja-JP" sz="1066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第1四半期</a:t>
            </a:r>
            <a:endParaRPr lang="ja-JP" sz="1066" dirty="0"/>
          </a:p>
        </p:txBody>
      </p:sp>
      <p:sp>
        <p:nvSpPr>
          <p:cNvPr id="26" name="q1-text"/>
          <p:cNvSpPr txBox="1"/>
          <p:nvPr/>
        </p:nvSpPr>
        <p:spPr>
          <a:xfrm>
            <a:off x="699643" y="4582986"/>
            <a:ext cx="13764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本社に自動仕分けライン</a:t>
            </a:r>
            <a:br>
              <a:rPr lang="ja-JP" sz="906" dirty="0"/>
            </a:b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を稼働</a:t>
            </a:r>
            <a:endParaRPr lang="ja-JP" sz="906" dirty="0"/>
          </a:p>
        </p:txBody>
      </p:sp>
      <p:sp>
        <p:nvSpPr>
          <p:cNvPr id="27" name="q2-bar"/>
          <p:cNvSpPr/>
          <p:nvPr/>
        </p:nvSpPr>
        <p:spPr>
          <a:xfrm>
            <a:off x="24130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1B2340"/>
          </a:solidFill>
          <a:ln>
            <a:noFill/>
          </a:ln>
        </p:spPr>
      </p:sp>
      <p:sp>
        <p:nvSpPr>
          <p:cNvPr id="28" name="q2-label"/>
          <p:cNvSpPr txBox="1"/>
          <p:nvPr/>
        </p:nvSpPr>
        <p:spPr>
          <a:xfrm>
            <a:off x="2982836" y="4142505"/>
            <a:ext cx="765708" cy="175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386"/>
              </a:lnSpc>
              <a:buNone/>
            </a:pPr>
            <a:r>
              <a:rPr lang="ja-JP" sz="1066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第2四半期</a:t>
            </a:r>
            <a:endParaRPr lang="ja-JP" sz="1066" dirty="0"/>
          </a:p>
        </p:txBody>
      </p:sp>
      <p:sp>
        <p:nvSpPr>
          <p:cNvPr id="29" name="q2-text"/>
          <p:cNvSpPr txBox="1"/>
          <p:nvPr/>
        </p:nvSpPr>
        <p:spPr>
          <a:xfrm>
            <a:off x="2499614" y="4582986"/>
            <a:ext cx="10081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EV バン 120 台を</a:t>
            </a:r>
            <a:br>
              <a:rPr lang="ja-JP" sz="906" dirty="0"/>
            </a:b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受領</a:t>
            </a:r>
            <a:endParaRPr lang="ja-JP" sz="906" dirty="0"/>
          </a:p>
        </p:txBody>
      </p:sp>
      <p:sp>
        <p:nvSpPr>
          <p:cNvPr id="30" name="q3-bar"/>
          <p:cNvSpPr/>
          <p:nvPr/>
        </p:nvSpPr>
        <p:spPr>
          <a:xfrm>
            <a:off x="42164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3A4470"/>
          </a:solidFill>
          <a:ln>
            <a:noFill/>
          </a:ln>
        </p:spPr>
      </p:sp>
      <p:sp>
        <p:nvSpPr>
          <p:cNvPr id="31" name="q3-label"/>
          <p:cNvSpPr txBox="1"/>
          <p:nvPr/>
        </p:nvSpPr>
        <p:spPr>
          <a:xfrm>
            <a:off x="4786236" y="4142505"/>
            <a:ext cx="765708" cy="175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386"/>
              </a:lnSpc>
              <a:buNone/>
            </a:pPr>
            <a:r>
              <a:rPr lang="ja-JP" sz="1066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第3四半期</a:t>
            </a:r>
            <a:endParaRPr lang="ja-JP" sz="1066" dirty="0"/>
          </a:p>
        </p:txBody>
      </p:sp>
      <p:sp>
        <p:nvSpPr>
          <p:cNvPr id="32" name="q3-text"/>
          <p:cNvSpPr txBox="1"/>
          <p:nvPr/>
        </p:nvSpPr>
        <p:spPr>
          <a:xfrm>
            <a:off x="4303014" y="4580382"/>
            <a:ext cx="9192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北部地域ハブを</a:t>
            </a:r>
            <a:br>
              <a:rPr lang="ja-JP" sz="906" dirty="0"/>
            </a:b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開設</a:t>
            </a:r>
            <a:endParaRPr lang="ja-JP" sz="906" dirty="0"/>
          </a:p>
        </p:txBody>
      </p:sp>
      <p:sp>
        <p:nvSpPr>
          <p:cNvPr id="33" name="q4-bar"/>
          <p:cNvSpPr/>
          <p:nvPr/>
        </p:nvSpPr>
        <p:spPr>
          <a:xfrm>
            <a:off x="6019800" y="4000500"/>
            <a:ext cx="1905000" cy="457200"/>
          </a:xfrm>
          <a:prstGeom prst="chevron">
            <a:avLst>
              <a:gd name="adj" fmla="val 38889"/>
            </a:avLst>
          </a:prstGeom>
          <a:solidFill>
            <a:srgbClr val="59617E"/>
          </a:solidFill>
          <a:ln>
            <a:noFill/>
          </a:ln>
        </p:spPr>
      </p:sp>
      <p:sp>
        <p:nvSpPr>
          <p:cNvPr id="34" name="q4-label"/>
          <p:cNvSpPr txBox="1"/>
          <p:nvPr/>
        </p:nvSpPr>
        <p:spPr>
          <a:xfrm>
            <a:off x="6589636" y="4142505"/>
            <a:ext cx="765708" cy="175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386"/>
              </a:lnSpc>
              <a:buNone/>
            </a:pPr>
            <a:r>
              <a:rPr lang="ja-JP" sz="1066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第4四半期</a:t>
            </a:r>
            <a:endParaRPr lang="ja-JP" sz="1066" dirty="0"/>
          </a:p>
        </p:txBody>
      </p:sp>
      <p:sp>
        <p:nvSpPr>
          <p:cNvPr id="35" name="q4-text"/>
          <p:cNvSpPr txBox="1"/>
          <p:nvPr/>
        </p:nvSpPr>
        <p:spPr>
          <a:xfrm>
            <a:off x="6106986" y="4580382"/>
            <a:ext cx="9192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南部地域ハブを</a:t>
            </a:r>
            <a:br>
              <a:rPr lang="ja-JP" sz="906" dirty="0"/>
            </a:br>
            <a:r>
              <a:rPr lang="ja-JP" sz="906" dirty="0">
                <a:solidFill>
                  <a:srgbClr val="59617E"/>
                </a:solidFill>
                <a:latin typeface="Yu Gothic"/>
                <a:ea typeface="Yu Gothic"/>
                <a:cs typeface="Yu Gothic"/>
              </a:rPr>
              <a:t>開設</a:t>
            </a:r>
            <a:endParaRPr lang="ja-JP" sz="906" dirty="0"/>
          </a:p>
        </p:txBody>
      </p:sp>
      <p:cxnSp>
        <p:nvCxnSpPr>
          <p:cNvPr id="36" name="footer-rule"/>
          <p:cNvCxnSpPr/>
          <p:nvPr/>
        </p:nvCxnSpPr>
        <p:spPr>
          <a:xfrm>
            <a:off x="609600" y="6292850"/>
            <a:ext cx="10972800" cy="0"/>
          </a:xfrm>
          <a:prstGeom prst="line">
            <a:avLst/>
          </a:prstGeom>
          <a:ln w="12700" cap="flat">
            <a:solidFill>
              <a:srgbClr val="E4E7F0"/>
            </a:solidFill>
          </a:ln>
        </p:spPr>
      </p:cxnSp>
      <p:sp>
        <p:nvSpPr>
          <p:cNvPr id="37" name="footer"/>
          <p:cNvSpPr txBox="1"/>
          <p:nvPr/>
        </p:nvSpPr>
        <p:spPr>
          <a:xfrm>
            <a:off x="609727" y="6431009"/>
            <a:ext cx="3001188" cy="1212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955"/>
              </a:lnSpc>
              <a:buNone/>
            </a:pPr>
            <a:r>
              <a:rPr lang="ja-JP" sz="734" dirty="0">
                <a:solidFill>
                  <a:srgbClr val="8A91AB"/>
                </a:solidFill>
                <a:latin typeface="Yu Gothic"/>
                <a:ea typeface="Yu Gothic"/>
                <a:cs typeface="Yu Gothic"/>
              </a:rPr>
              <a:t>出典：社内オペレーションデータ（2026年9月）。数値は説明用です。</a:t>
            </a:r>
            <a:endParaRPr lang="ja-JP" sz="7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unscreenshot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Sakura Butsuryu - FY2027 business plan</dc:title>
  <dc:creator>unscreenshot</dc:creator>
  <dcterms:created xsi:type="dcterms:W3CDTF">2026-10-09T10:30:49Z</dcterms:created>
  <dcterms:modified xsi:type="dcterms:W3CDTF">2026-10-09T10:30:49Z</dcterms:modified>
</cp:coreProperties>
</file>