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29526" y="355810"/>
            <a:ext cx="4993284" cy="3807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998"/>
              </a:lnSpc>
              <a:buNone/>
            </a:pPr>
            <a:r>
              <a:rPr lang="en-US" sz="2306" b="1" dirty="0">
                <a:solidFill>
                  <a:srgbClr val="1B2340"/>
                </a:solidFill>
                <a:latin typeface="Segoe UI"/>
                <a:ea typeface="Segoe UI"/>
                <a:cs typeface="Segoe UI"/>
              </a:rPr>
              <a:t>Quarterly update in twelve scripts</a:t>
            </a:r>
            <a:endParaRPr lang="en-US" sz="2306" dirty="0"/>
          </a:p>
        </p:txBody>
      </p:sp>
      <p:sp>
        <p:nvSpPr>
          <p:cNvPr id="3" name="subtitle"/>
          <p:cNvSpPr txBox="1"/>
          <p:nvPr/>
        </p:nvSpPr>
        <p:spPr>
          <a:xfrm>
            <a:off x="530479" y="803813"/>
            <a:ext cx="5706034" cy="1897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494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Segoe UI"/>
                <a:ea typeface="Segoe UI"/>
                <a:cs typeface="Segoe UI"/>
              </a:rPr>
              <a:t>The same three lines in twelve languages, rebuilt as editable text from one screenshot.</a:t>
            </a:r>
            <a:endParaRPr lang="en-US" sz="1150" dirty="0"/>
          </a:p>
        </p:txBody>
      </p:sp>
      <p:grpSp>
        <p:nvGrpSpPr>
          <p:cNvPr id="5" name="card-ar"/>
          <p:cNvGrpSpPr/>
          <p:nvPr/>
        </p:nvGrpSpPr>
        <p:grpSpPr>
          <a:xfrm>
            <a:off x="533400" y="1270000"/>
            <a:ext cx="2667000" cy="1587500"/>
            <a:chOff x="533400" y="1270000"/>
            <a:chExt cx="2667000" cy="1587500"/>
          </a:xfrm>
        </p:grpSpPr>
        <p:sp>
          <p:nvSpPr>
            <p:cNvPr id="4" name="card-ar-box"/>
            <p:cNvSpPr/>
            <p:nvPr/>
          </p:nvSpPr>
          <p:spPr>
            <a:xfrm>
              <a:off x="533400" y="12700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6" name="ar-eyebrow"/>
            <p:cNvSpPr txBox="1"/>
            <p:nvPr/>
          </p:nvSpPr>
          <p:spPr>
            <a:xfrm>
              <a:off x="2593404" y="1427410"/>
              <a:ext cx="41681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118"/>
                </a:lnSpc>
                <a:buNone/>
              </a:pPr>
              <a:r>
                <a:rPr lang="ar-SA" sz="860" b="1" dirty="0">
                  <a:solidFill>
                    <a:srgbClr val="F26B3A"/>
                  </a:solidFill>
                  <a:latin typeface="Dubai"/>
                  <a:ea typeface="Dubai"/>
                  <a:cs typeface="Dubai"/>
                </a:rPr>
                <a:t>العربية</a:t>
              </a:r>
              <a:endParaRPr lang="en-US" sz="860" dirty="0"/>
            </a:p>
          </p:txBody>
        </p:sp>
        <p:sp>
          <p:nvSpPr>
            <p:cNvPr id="7" name="ar-heading"/>
            <p:cNvSpPr txBox="1"/>
            <p:nvPr/>
          </p:nvSpPr>
          <p:spPr>
            <a:xfrm>
              <a:off x="1750365" y="1673696"/>
              <a:ext cx="126486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960"/>
                </a:lnSpc>
                <a:buNone/>
              </a:pPr>
              <a:r>
                <a:rPr lang="ar-SA" sz="1508" b="1" dirty="0">
                  <a:solidFill>
                    <a:srgbClr val="1B2340"/>
                  </a:solidFill>
                  <a:latin typeface="Dubai"/>
                  <a:ea typeface="Dubai"/>
                  <a:cs typeface="Dubai"/>
                </a:rPr>
                <a:t>التقرير الفصلي</a:t>
              </a:r>
              <a:endParaRPr lang="en-US" sz="1508" dirty="0"/>
            </a:p>
          </p:txBody>
        </p:sp>
        <p:sp>
          <p:nvSpPr>
            <p:cNvPr id="8" name="ar-lines"/>
            <p:cNvSpPr txBox="1"/>
            <p:nvPr/>
          </p:nvSpPr>
          <p:spPr>
            <a:xfrm>
              <a:off x="1511033" y="2085023"/>
              <a:ext cx="150032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700"/>
                </a:lnSpc>
                <a:buNone/>
              </a:pPr>
              <a:r>
                <a:rPr lang="ar-SA" sz="1053" dirty="0">
                  <a:solidFill>
                    <a:srgbClr val="4A5268"/>
                  </a:solidFill>
                  <a:latin typeface="Dubai"/>
                  <a:ea typeface="Dubai"/>
                  <a:cs typeface="Dubai"/>
                </a:rPr>
                <a:t>نمو الإيرادات ١٢٪</a:t>
              </a:r>
              <a:br>
                <a:rPr lang="en-US" sz="1053" dirty="0"/>
              </a:br>
              <a:r>
                <a:rPr lang="ar-SA" sz="1053" dirty="0">
                  <a:solidFill>
                    <a:srgbClr val="4A5268"/>
                  </a:solidFill>
                  <a:latin typeface="Dubai"/>
                  <a:ea typeface="Dubai"/>
                  <a:cs typeface="Dubai"/>
                </a:rPr>
                <a:t>إطلاق المنتج في الربع الثالث</a:t>
              </a:r>
              <a:endParaRPr lang="en-US" sz="1053" dirty="0"/>
            </a:p>
          </p:txBody>
        </p:sp>
      </p:grpSp>
      <p:grpSp>
        <p:nvGrpSpPr>
          <p:cNvPr id="10" name="card-fa"/>
          <p:cNvGrpSpPr/>
          <p:nvPr/>
        </p:nvGrpSpPr>
        <p:grpSpPr>
          <a:xfrm>
            <a:off x="3352800" y="1270000"/>
            <a:ext cx="2667000" cy="1587500"/>
            <a:chOff x="3352800" y="1270000"/>
            <a:chExt cx="2667000" cy="1587500"/>
          </a:xfrm>
        </p:grpSpPr>
        <p:sp>
          <p:nvSpPr>
            <p:cNvPr id="9" name="card-fa-box"/>
            <p:cNvSpPr/>
            <p:nvPr/>
          </p:nvSpPr>
          <p:spPr>
            <a:xfrm>
              <a:off x="3352800" y="12700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11" name="fa-eyebrow"/>
            <p:cNvSpPr txBox="1"/>
            <p:nvPr/>
          </p:nvSpPr>
          <p:spPr>
            <a:xfrm>
              <a:off x="5440299" y="1441831"/>
              <a:ext cx="39141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118"/>
                </a:lnSpc>
                <a:buNone/>
              </a:pPr>
              <a:r>
                <a:rPr lang="fa-IR" sz="860" dirty="0">
                  <a:solidFill>
                    <a:srgbClr val="F26B3A"/>
                  </a:solidFill>
                  <a:latin typeface="Segoe UI Semibold"/>
                  <a:ea typeface="Segoe UI Semibold"/>
                  <a:cs typeface="Segoe UI Semibold"/>
                </a:rPr>
                <a:t>فارسی</a:t>
              </a:r>
              <a:endParaRPr lang="en-US" sz="860" dirty="0"/>
            </a:p>
          </p:txBody>
        </p:sp>
        <p:sp>
          <p:nvSpPr>
            <p:cNvPr id="12" name="fa-heading"/>
            <p:cNvSpPr txBox="1"/>
            <p:nvPr/>
          </p:nvSpPr>
          <p:spPr>
            <a:xfrm>
              <a:off x="4438129" y="1704619"/>
              <a:ext cx="139186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960"/>
                </a:lnSpc>
                <a:buNone/>
              </a:pPr>
              <a:r>
                <a:rPr lang="fa-IR" sz="1508" b="1" dirty="0">
                  <a:solidFill>
                    <a:srgbClr val="1B2340"/>
                  </a:solidFill>
                  <a:latin typeface="Segoe UI"/>
                  <a:ea typeface="Segoe UI"/>
                  <a:cs typeface="Segoe UI"/>
                </a:rPr>
                <a:t>گزارش سه‌ماهه</a:t>
              </a:r>
              <a:endParaRPr lang="en-US" sz="1508" dirty="0"/>
            </a:p>
          </p:txBody>
        </p:sp>
        <p:sp>
          <p:nvSpPr>
            <p:cNvPr id="13" name="fa-lines"/>
            <p:cNvSpPr txBox="1"/>
            <p:nvPr/>
          </p:nvSpPr>
          <p:spPr>
            <a:xfrm>
              <a:off x="3936225" y="2098675"/>
              <a:ext cx="190037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700"/>
                </a:lnSpc>
                <a:buNone/>
              </a:pPr>
              <a:r>
                <a:rPr lang="fa-IR" sz="1053" dirty="0">
                  <a:solidFill>
                    <a:srgbClr val="4A5268"/>
                  </a:solidFill>
                  <a:latin typeface="Segoe UI"/>
                  <a:ea typeface="Segoe UI"/>
                  <a:cs typeface="Segoe UI"/>
                </a:rPr>
                <a:t>رشد درآمد </a:t>
              </a:r>
              <a:r>
                <a:rPr lang="en-US" sz="1053" dirty="0">
                  <a:solidFill>
                    <a:srgbClr val="4A5268"/>
                  </a:solidFill>
                  <a:latin typeface="Segoe UI"/>
                  <a:ea typeface="Segoe UI"/>
                  <a:cs typeface="Segoe UI"/>
                </a:rPr>
                <a:t>۱۲٪</a:t>
              </a:r>
              <a:br>
                <a:rPr lang="en-US" sz="1053" dirty="0"/>
              </a:br>
              <a:r>
                <a:rPr lang="fa-IR" sz="1053" dirty="0">
                  <a:solidFill>
                    <a:srgbClr val="4A5268"/>
                  </a:solidFill>
                  <a:latin typeface="Segoe UI"/>
                  <a:ea typeface="Segoe UI"/>
                  <a:cs typeface="Segoe UI"/>
                </a:rPr>
                <a:t>عرضهٔ محصول در سه‌ماههٔ سوم</a:t>
              </a:r>
              <a:endParaRPr lang="en-US" sz="1053" dirty="0"/>
            </a:p>
          </p:txBody>
        </p:sp>
      </p:grpSp>
      <p:grpSp>
        <p:nvGrpSpPr>
          <p:cNvPr id="15" name="card-he"/>
          <p:cNvGrpSpPr/>
          <p:nvPr/>
        </p:nvGrpSpPr>
        <p:grpSpPr>
          <a:xfrm>
            <a:off x="6172200" y="1270000"/>
            <a:ext cx="2667000" cy="1587500"/>
            <a:chOff x="6172200" y="1270000"/>
            <a:chExt cx="2667000" cy="1587500"/>
          </a:xfrm>
        </p:grpSpPr>
        <p:sp>
          <p:nvSpPr>
            <p:cNvPr id="14" name="card-he-box"/>
            <p:cNvSpPr/>
            <p:nvPr/>
          </p:nvSpPr>
          <p:spPr>
            <a:xfrm>
              <a:off x="6172200" y="12700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16" name="he-eyebrow"/>
            <p:cNvSpPr txBox="1"/>
            <p:nvPr/>
          </p:nvSpPr>
          <p:spPr>
            <a:xfrm>
              <a:off x="8227377" y="1442910"/>
              <a:ext cx="42316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118"/>
                </a:lnSpc>
                <a:buNone/>
              </a:pPr>
              <a:r>
                <a:rPr lang="he-IL" sz="860" dirty="0">
                  <a:solidFill>
                    <a:srgbClr val="F26B3A"/>
                  </a:solidFill>
                  <a:latin typeface="Segoe UI Semibold"/>
                  <a:ea typeface="Segoe UI Semibold"/>
                  <a:cs typeface="Segoe UI Semibold"/>
                </a:rPr>
                <a:t>עברית</a:t>
              </a:r>
              <a:endParaRPr lang="en-US" sz="860" dirty="0"/>
            </a:p>
          </p:txBody>
        </p:sp>
        <p:sp>
          <p:nvSpPr>
            <p:cNvPr id="17" name="he-heading"/>
            <p:cNvSpPr txBox="1"/>
            <p:nvPr/>
          </p:nvSpPr>
          <p:spPr>
            <a:xfrm>
              <a:off x="7546391" y="1705572"/>
              <a:ext cx="110611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960"/>
                </a:lnSpc>
                <a:buNone/>
              </a:pPr>
              <a:r>
                <a:rPr lang="he-IL" sz="1508" b="1" dirty="0">
                  <a:solidFill>
                    <a:srgbClr val="1B2340"/>
                  </a:solidFill>
                  <a:latin typeface="Segoe UI"/>
                  <a:ea typeface="Segoe UI"/>
                  <a:cs typeface="Segoe UI"/>
                </a:rPr>
                <a:t>דוח רבעוני</a:t>
              </a:r>
              <a:endParaRPr lang="en-US" sz="1508" dirty="0"/>
            </a:p>
          </p:txBody>
        </p:sp>
        <p:sp>
          <p:nvSpPr>
            <p:cNvPr id="18" name="he-lines"/>
            <p:cNvSpPr txBox="1"/>
            <p:nvPr/>
          </p:nvSpPr>
          <p:spPr>
            <a:xfrm>
              <a:off x="6829539" y="2098675"/>
              <a:ext cx="182417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r" rtl="1">
                <a:lnSpc>
                  <a:spcPts val="1700"/>
                </a:lnSpc>
                <a:buNone/>
              </a:pPr>
              <a:r>
                <a:rPr lang="he-IL" sz="1053" dirty="0">
                  <a:solidFill>
                    <a:srgbClr val="4A5268"/>
                  </a:solidFill>
                  <a:latin typeface="Segoe UI"/>
                  <a:ea typeface="Segoe UI"/>
                  <a:cs typeface="Segoe UI"/>
                </a:rPr>
                <a:t>צמיחה בהכנסות 12%</a:t>
              </a:r>
              <a:br>
                <a:rPr lang="en-US" sz="1053" dirty="0"/>
              </a:br>
              <a:r>
                <a:rPr lang="he-IL" sz="1053" dirty="0">
                  <a:solidFill>
                    <a:srgbClr val="4A5268"/>
                  </a:solidFill>
                  <a:latin typeface="Segoe UI"/>
                  <a:ea typeface="Segoe UI"/>
                  <a:cs typeface="Segoe UI"/>
                </a:rPr>
                <a:t>השקת המוצר ברבעון השלישי</a:t>
              </a:r>
              <a:endParaRPr lang="en-US" sz="1053" dirty="0"/>
            </a:p>
          </p:txBody>
        </p:sp>
      </p:grpSp>
      <p:grpSp>
        <p:nvGrpSpPr>
          <p:cNvPr id="20" name="card-zh"/>
          <p:cNvGrpSpPr/>
          <p:nvPr/>
        </p:nvGrpSpPr>
        <p:grpSpPr>
          <a:xfrm>
            <a:off x="8991600" y="1270000"/>
            <a:ext cx="2667000" cy="1587500"/>
            <a:chOff x="8991600" y="1270000"/>
            <a:chExt cx="2667000" cy="1587500"/>
          </a:xfrm>
        </p:grpSpPr>
        <p:sp>
          <p:nvSpPr>
            <p:cNvPr id="19" name="card-zh-box"/>
            <p:cNvSpPr/>
            <p:nvPr/>
          </p:nvSpPr>
          <p:spPr>
            <a:xfrm>
              <a:off x="8991600" y="12700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21" name="zh-eyebrow"/>
            <p:cNvSpPr txBox="1"/>
            <p:nvPr/>
          </p:nvSpPr>
          <p:spPr>
            <a:xfrm>
              <a:off x="9175560" y="1443038"/>
              <a:ext cx="34696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118"/>
                </a:lnSpc>
                <a:buNone/>
              </a:pPr>
              <a:r>
                <a:rPr lang="zh-CN" sz="860" b="1" dirty="0">
                  <a:solidFill>
                    <a:srgbClr val="F26B3A"/>
                  </a:solidFill>
                  <a:latin typeface="Microsoft YaHei"/>
                  <a:ea typeface="Microsoft YaHei"/>
                  <a:cs typeface="Microsoft YaHei"/>
                </a:rPr>
                <a:t>中文</a:t>
              </a:r>
              <a:endParaRPr lang="en-US" sz="860" dirty="0"/>
            </a:p>
          </p:txBody>
        </p:sp>
        <p:sp>
          <p:nvSpPr>
            <p:cNvPr id="22" name="zh-heading"/>
            <p:cNvSpPr txBox="1"/>
            <p:nvPr/>
          </p:nvSpPr>
          <p:spPr>
            <a:xfrm>
              <a:off x="9179242" y="1702270"/>
              <a:ext cx="99181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60"/>
                </a:lnSpc>
                <a:buNone/>
              </a:pPr>
              <a:r>
                <a:rPr lang="zh-CN" sz="1508" b="1" dirty="0">
                  <a:solidFill>
                    <a:srgbClr val="1B2340"/>
                  </a:solidFill>
                  <a:latin typeface="Microsoft YaHei"/>
                  <a:ea typeface="Microsoft YaHei"/>
                  <a:cs typeface="Microsoft YaHei"/>
                </a:rPr>
                <a:t>季度报告</a:t>
              </a:r>
              <a:endParaRPr lang="en-US" sz="1508" dirty="0"/>
            </a:p>
          </p:txBody>
        </p:sp>
        <p:sp>
          <p:nvSpPr>
            <p:cNvPr id="23" name="zh-lines"/>
            <p:cNvSpPr txBox="1"/>
            <p:nvPr/>
          </p:nvSpPr>
          <p:spPr>
            <a:xfrm>
              <a:off x="9180766" y="2094992"/>
              <a:ext cx="135427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700"/>
                </a:lnSpc>
                <a:buNone/>
              </a:pPr>
              <a:r>
                <a:rPr lang="zh-CN" sz="1053" dirty="0">
                  <a:solidFill>
                    <a:srgbClr val="4A5268"/>
                  </a:solidFill>
                  <a:latin typeface="Microsoft YaHei"/>
                  <a:ea typeface="Microsoft YaHei"/>
                  <a:cs typeface="Microsoft YaHei"/>
                </a:rPr>
                <a:t>收入增长 12%</a:t>
              </a:r>
              <a:br>
                <a:rPr lang="en-US" sz="1053" dirty="0"/>
              </a:br>
              <a:r>
                <a:rPr lang="zh-CN" sz="1053" dirty="0">
                  <a:solidFill>
                    <a:srgbClr val="4A5268"/>
                  </a:solidFill>
                  <a:latin typeface="Microsoft YaHei"/>
                  <a:ea typeface="Microsoft YaHei"/>
                  <a:cs typeface="Microsoft YaHei"/>
                </a:rPr>
                <a:t>第三季度推出新产品</a:t>
              </a:r>
              <a:endParaRPr lang="en-US" sz="1053" dirty="0"/>
            </a:p>
          </p:txBody>
        </p:sp>
      </p:grpSp>
      <p:grpSp>
        <p:nvGrpSpPr>
          <p:cNvPr id="25" name="card-ja"/>
          <p:cNvGrpSpPr/>
          <p:nvPr/>
        </p:nvGrpSpPr>
        <p:grpSpPr>
          <a:xfrm>
            <a:off x="533400" y="3035300"/>
            <a:ext cx="2667000" cy="1587500"/>
            <a:chOff x="533400" y="3035300"/>
            <a:chExt cx="2667000" cy="1587500"/>
          </a:xfrm>
        </p:grpSpPr>
        <p:sp>
          <p:nvSpPr>
            <p:cNvPr id="24" name="card-ja-box"/>
            <p:cNvSpPr/>
            <p:nvPr/>
          </p:nvSpPr>
          <p:spPr>
            <a:xfrm>
              <a:off x="533400" y="30353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26" name="ja-eyebrow"/>
            <p:cNvSpPr txBox="1"/>
            <p:nvPr/>
          </p:nvSpPr>
          <p:spPr>
            <a:xfrm>
              <a:off x="716978" y="3201797"/>
              <a:ext cx="44221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118"/>
                </a:lnSpc>
                <a:buNone/>
              </a:pPr>
              <a:r>
                <a:rPr lang="ja-JP" sz="860" b="1" dirty="0">
                  <a:solidFill>
                    <a:srgbClr val="F26B3A"/>
                  </a:solidFill>
                  <a:latin typeface="Yu Gothic"/>
                  <a:ea typeface="Yu Gothic"/>
                  <a:cs typeface="Yu Gothic"/>
                </a:rPr>
                <a:t>日本語</a:t>
              </a:r>
              <a:endParaRPr lang="en-US" sz="860" dirty="0"/>
            </a:p>
          </p:txBody>
        </p:sp>
        <p:sp>
          <p:nvSpPr>
            <p:cNvPr id="27" name="ja-heading"/>
            <p:cNvSpPr txBox="1"/>
            <p:nvPr/>
          </p:nvSpPr>
          <p:spPr>
            <a:xfrm>
              <a:off x="722249" y="3458870"/>
              <a:ext cx="151251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60"/>
                </a:lnSpc>
                <a:buNone/>
              </a:pPr>
              <a:r>
                <a:rPr lang="ja-JP" sz="1508" b="1" dirty="0">
                  <a:solidFill>
                    <a:srgbClr val="1B2340"/>
                  </a:solidFill>
                  <a:latin typeface="Yu Gothic"/>
                  <a:ea typeface="Yu Gothic"/>
                  <a:cs typeface="Yu Gothic"/>
                </a:rPr>
                <a:t>四半期レポート</a:t>
              </a:r>
              <a:endParaRPr lang="en-US" sz="1508" dirty="0"/>
            </a:p>
          </p:txBody>
        </p:sp>
        <p:sp>
          <p:nvSpPr>
            <p:cNvPr id="28" name="ja-lines"/>
            <p:cNvSpPr txBox="1"/>
            <p:nvPr/>
          </p:nvSpPr>
          <p:spPr>
            <a:xfrm>
              <a:off x="723582" y="3854450"/>
              <a:ext cx="169082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700"/>
                </a:lnSpc>
                <a:buNone/>
              </a:pPr>
              <a:r>
                <a:rPr lang="ja-JP" sz="1053" dirty="0">
                  <a:solidFill>
                    <a:srgbClr val="4A5268"/>
                  </a:solidFill>
                  <a:latin typeface="Yu Gothic"/>
                  <a:ea typeface="Yu Gothic"/>
                  <a:cs typeface="Yu Gothic"/>
                </a:rPr>
                <a:t>売上高 12% 増加</a:t>
              </a:r>
              <a:br>
                <a:rPr lang="en-US" sz="1053" dirty="0"/>
              </a:br>
              <a:r>
                <a:rPr lang="ja-JP" sz="1053" dirty="0">
                  <a:solidFill>
                    <a:srgbClr val="4A5268"/>
                  </a:solidFill>
                  <a:latin typeface="Yu Gothic"/>
                  <a:ea typeface="Yu Gothic"/>
                  <a:cs typeface="Yu Gothic"/>
                </a:rPr>
                <a:t>第3四半期に新製品を発売</a:t>
              </a:r>
              <a:endParaRPr lang="en-US" sz="1053" dirty="0"/>
            </a:p>
          </p:txBody>
        </p:sp>
      </p:grpSp>
      <p:grpSp>
        <p:nvGrpSpPr>
          <p:cNvPr id="30" name="card-ko"/>
          <p:cNvGrpSpPr/>
          <p:nvPr/>
        </p:nvGrpSpPr>
        <p:grpSpPr>
          <a:xfrm>
            <a:off x="3352800" y="3035300"/>
            <a:ext cx="2667000" cy="1587500"/>
            <a:chOff x="3352800" y="3035300"/>
            <a:chExt cx="2667000" cy="1587500"/>
          </a:xfrm>
        </p:grpSpPr>
        <p:sp>
          <p:nvSpPr>
            <p:cNvPr id="29" name="card-ko-box"/>
            <p:cNvSpPr/>
            <p:nvPr/>
          </p:nvSpPr>
          <p:spPr>
            <a:xfrm>
              <a:off x="3352800" y="30353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31" name="ko-eyebrow"/>
            <p:cNvSpPr txBox="1"/>
            <p:nvPr/>
          </p:nvSpPr>
          <p:spPr>
            <a:xfrm>
              <a:off x="3542030" y="3212402"/>
              <a:ext cx="43586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118"/>
                </a:lnSpc>
                <a:buNone/>
              </a:pPr>
              <a:r>
                <a:rPr lang="ko-KR" sz="860" b="1" dirty="0">
                  <a:solidFill>
                    <a:srgbClr val="F26B3A"/>
                  </a:solidFill>
                  <a:latin typeface="Malgun Gothic"/>
                  <a:ea typeface="Malgun Gothic"/>
                  <a:cs typeface="Malgun Gothic"/>
                </a:rPr>
                <a:t>한국어</a:t>
              </a:r>
              <a:endParaRPr lang="en-US" sz="860" dirty="0"/>
            </a:p>
          </p:txBody>
        </p:sp>
        <p:sp>
          <p:nvSpPr>
            <p:cNvPr id="32" name="ko-heading"/>
            <p:cNvSpPr txBox="1"/>
            <p:nvPr/>
          </p:nvSpPr>
          <p:spPr>
            <a:xfrm>
              <a:off x="3538157" y="3477476"/>
              <a:ext cx="122041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60"/>
                </a:lnSpc>
                <a:buNone/>
              </a:pPr>
              <a:r>
                <a:rPr lang="ko-KR" sz="1508" b="1" dirty="0">
                  <a:solidFill>
                    <a:srgbClr val="1B2340"/>
                  </a:solidFill>
                  <a:latin typeface="Malgun Gothic"/>
                  <a:ea typeface="Malgun Gothic"/>
                  <a:cs typeface="Malgun Gothic"/>
                </a:rPr>
                <a:t>분기 보고서</a:t>
              </a:r>
              <a:endParaRPr lang="en-US" sz="1508" dirty="0"/>
            </a:p>
          </p:txBody>
        </p:sp>
        <p:sp>
          <p:nvSpPr>
            <p:cNvPr id="33" name="ko-lines"/>
            <p:cNvSpPr txBox="1"/>
            <p:nvPr/>
          </p:nvSpPr>
          <p:spPr>
            <a:xfrm>
              <a:off x="3540950" y="3864991"/>
              <a:ext cx="123997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700"/>
                </a:lnSpc>
                <a:buNone/>
              </a:pPr>
              <a:r>
                <a:rPr lang="ko-KR" sz="1053" dirty="0">
                  <a:solidFill>
                    <a:srgbClr val="4A5268"/>
                  </a:solidFill>
                  <a:latin typeface="Malgun Gothic"/>
                  <a:ea typeface="Malgun Gothic"/>
                  <a:cs typeface="Malgun Gothic"/>
                </a:rPr>
                <a:t>매출 12% 성장</a:t>
              </a:r>
              <a:br>
                <a:rPr lang="en-US" sz="1053" dirty="0"/>
              </a:br>
              <a:r>
                <a:rPr lang="ko-KR" sz="1053" dirty="0">
                  <a:solidFill>
                    <a:srgbClr val="4A5268"/>
                  </a:solidFill>
                  <a:latin typeface="Malgun Gothic"/>
                  <a:ea typeface="Malgun Gothic"/>
                  <a:cs typeface="Malgun Gothic"/>
                </a:rPr>
                <a:t>3분기 신제품 출시</a:t>
              </a:r>
              <a:endParaRPr lang="en-US" sz="1053" dirty="0"/>
            </a:p>
          </p:txBody>
        </p:sp>
      </p:grpSp>
      <p:grpSp>
        <p:nvGrpSpPr>
          <p:cNvPr id="35" name="card-hi"/>
          <p:cNvGrpSpPr/>
          <p:nvPr/>
        </p:nvGrpSpPr>
        <p:grpSpPr>
          <a:xfrm>
            <a:off x="6172200" y="3035300"/>
            <a:ext cx="2667000" cy="1587500"/>
            <a:chOff x="6172200" y="3035300"/>
            <a:chExt cx="2667000" cy="1587500"/>
          </a:xfrm>
        </p:grpSpPr>
        <p:sp>
          <p:nvSpPr>
            <p:cNvPr id="34" name="card-hi-box"/>
            <p:cNvSpPr/>
            <p:nvPr/>
          </p:nvSpPr>
          <p:spPr>
            <a:xfrm>
              <a:off x="6172200" y="30353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36" name="hi-eyebrow"/>
            <p:cNvSpPr txBox="1"/>
            <p:nvPr/>
          </p:nvSpPr>
          <p:spPr>
            <a:xfrm>
              <a:off x="6358509" y="3206115"/>
              <a:ext cx="38506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118"/>
                </a:lnSpc>
                <a:buNone/>
              </a:pPr>
              <a:r>
                <a:rPr lang="hi-IN" sz="860" b="1" dirty="0">
                  <a:solidFill>
                    <a:srgbClr val="F26B3A"/>
                  </a:solidFill>
                  <a:latin typeface="Nirmala UI"/>
                  <a:ea typeface="Nirmala UI"/>
                  <a:cs typeface="Nirmala UI"/>
                </a:rPr>
                <a:t>हिन्दी</a:t>
              </a:r>
              <a:endParaRPr lang="en-US" sz="860" dirty="0"/>
            </a:p>
          </p:txBody>
        </p:sp>
        <p:sp>
          <p:nvSpPr>
            <p:cNvPr id="37" name="hi-heading"/>
            <p:cNvSpPr txBox="1"/>
            <p:nvPr/>
          </p:nvSpPr>
          <p:spPr>
            <a:xfrm>
              <a:off x="6360160" y="3472142"/>
              <a:ext cx="131566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60"/>
                </a:lnSpc>
                <a:buNone/>
              </a:pPr>
              <a:r>
                <a:rPr lang="hi-IN" sz="1508" b="1" dirty="0">
                  <a:solidFill>
                    <a:srgbClr val="1B2340"/>
                  </a:solidFill>
                  <a:latin typeface="Nirmala UI"/>
                  <a:ea typeface="Nirmala UI"/>
                  <a:cs typeface="Nirmala UI"/>
                </a:rPr>
                <a:t>तिमाही रिपोर्ट</a:t>
              </a:r>
              <a:endParaRPr lang="en-US" sz="1508" dirty="0"/>
            </a:p>
          </p:txBody>
        </p:sp>
        <p:sp>
          <p:nvSpPr>
            <p:cNvPr id="38" name="hi-lines"/>
            <p:cNvSpPr txBox="1"/>
            <p:nvPr/>
          </p:nvSpPr>
          <p:spPr>
            <a:xfrm>
              <a:off x="6359080" y="3879469"/>
              <a:ext cx="1659077" cy="393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550"/>
                </a:lnSpc>
                <a:buNone/>
              </a:pPr>
              <a:r>
                <a:rPr lang="hi-IN" sz="1053" dirty="0">
                  <a:solidFill>
                    <a:srgbClr val="4A5268"/>
                  </a:solidFill>
                  <a:latin typeface="Nirmala UI"/>
                  <a:ea typeface="Nirmala UI"/>
                  <a:cs typeface="Nirmala UI"/>
                </a:rPr>
                <a:t>राजस्व में 12% वृद्धि</a:t>
              </a:r>
              <a:br>
                <a:rPr lang="en-US" sz="1053" dirty="0"/>
              </a:br>
              <a:r>
                <a:rPr lang="hi-IN" sz="1053" dirty="0">
                  <a:solidFill>
                    <a:srgbClr val="4A5268"/>
                  </a:solidFill>
                  <a:latin typeface="Nirmala UI"/>
                  <a:ea typeface="Nirmala UI"/>
                  <a:cs typeface="Nirmala UI"/>
                </a:rPr>
                <a:t>तीसरी तिमाही में उत्पाद लॉन्च</a:t>
              </a:r>
              <a:endParaRPr lang="en-US" sz="1053" dirty="0"/>
            </a:p>
          </p:txBody>
        </p:sp>
      </p:grpSp>
      <p:grpSp>
        <p:nvGrpSpPr>
          <p:cNvPr id="40" name="card-th"/>
          <p:cNvGrpSpPr/>
          <p:nvPr/>
        </p:nvGrpSpPr>
        <p:grpSpPr>
          <a:xfrm>
            <a:off x="8991600" y="3035300"/>
            <a:ext cx="2667000" cy="1587500"/>
            <a:chOff x="8991600" y="3035300"/>
            <a:chExt cx="2667000" cy="1587500"/>
          </a:xfrm>
        </p:grpSpPr>
        <p:sp>
          <p:nvSpPr>
            <p:cNvPr id="39" name="card-th-box"/>
            <p:cNvSpPr/>
            <p:nvPr/>
          </p:nvSpPr>
          <p:spPr>
            <a:xfrm>
              <a:off x="8991600" y="30353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41" name="th-eyebrow"/>
            <p:cNvSpPr txBox="1"/>
            <p:nvPr/>
          </p:nvSpPr>
          <p:spPr>
            <a:xfrm>
              <a:off x="9176830" y="3208210"/>
              <a:ext cx="32791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118"/>
                </a:lnSpc>
                <a:buNone/>
              </a:pPr>
              <a:r>
                <a:rPr lang="th-TH" sz="860" b="1" dirty="0">
                  <a:solidFill>
                    <a:srgbClr val="F26B3A"/>
                  </a:solidFill>
                  <a:latin typeface="Leelawadee UI"/>
                  <a:ea typeface="Leelawadee UI"/>
                  <a:cs typeface="Leelawadee UI"/>
                </a:rPr>
                <a:t>ไทย</a:t>
              </a:r>
              <a:endParaRPr lang="en-US" sz="860" dirty="0"/>
            </a:p>
          </p:txBody>
        </p:sp>
        <p:sp>
          <p:nvSpPr>
            <p:cNvPr id="42" name="th-heading"/>
            <p:cNvSpPr txBox="1"/>
            <p:nvPr/>
          </p:nvSpPr>
          <p:spPr>
            <a:xfrm>
              <a:off x="9176322" y="3470872"/>
              <a:ext cx="179826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60"/>
                </a:lnSpc>
                <a:buNone/>
              </a:pPr>
              <a:r>
                <a:rPr lang="th-TH" sz="1508" b="1" dirty="0">
                  <a:solidFill>
                    <a:srgbClr val="1B2340"/>
                  </a:solidFill>
                  <a:latin typeface="Leelawadee UI"/>
                  <a:ea typeface="Leelawadee UI"/>
                  <a:cs typeface="Leelawadee UI"/>
                </a:rPr>
                <a:t>รายงานรายไตรมาส</a:t>
              </a:r>
              <a:endParaRPr lang="en-US" sz="1508" dirty="0"/>
            </a:p>
          </p:txBody>
        </p:sp>
        <p:sp>
          <p:nvSpPr>
            <p:cNvPr id="43" name="th-lines"/>
            <p:cNvSpPr txBox="1"/>
            <p:nvPr/>
          </p:nvSpPr>
          <p:spPr>
            <a:xfrm>
              <a:off x="9179370" y="3863975"/>
              <a:ext cx="145587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700"/>
                </a:lnSpc>
                <a:buNone/>
              </a:pPr>
              <a:r>
                <a:rPr lang="th-TH" sz="1053" dirty="0">
                  <a:solidFill>
                    <a:srgbClr val="4A5268"/>
                  </a:solidFill>
                  <a:latin typeface="Leelawadee UI"/>
                  <a:ea typeface="Leelawadee UI"/>
                  <a:cs typeface="Leelawadee UI"/>
                </a:rPr>
                <a:t>รายได้เติบโต 12%</a:t>
              </a:r>
              <a:br>
                <a:rPr lang="en-US" sz="1053" dirty="0"/>
              </a:br>
              <a:r>
                <a:rPr lang="th-TH" sz="1053" dirty="0">
                  <a:solidFill>
                    <a:srgbClr val="4A5268"/>
                  </a:solidFill>
                  <a:latin typeface="Leelawadee UI"/>
                  <a:ea typeface="Leelawadee UI"/>
                  <a:cs typeface="Leelawadee UI"/>
                </a:rPr>
                <a:t>เปิดตัวสินค้าในไตรมาสที่ 3</a:t>
              </a:r>
              <a:endParaRPr lang="en-US" sz="1053" dirty="0"/>
            </a:p>
          </p:txBody>
        </p:sp>
      </p:grpSp>
      <p:grpSp>
        <p:nvGrpSpPr>
          <p:cNvPr id="45" name="card-vi"/>
          <p:cNvGrpSpPr/>
          <p:nvPr/>
        </p:nvGrpSpPr>
        <p:grpSpPr>
          <a:xfrm>
            <a:off x="533400" y="4800600"/>
            <a:ext cx="2667000" cy="1587500"/>
            <a:chOff x="533400" y="4800600"/>
            <a:chExt cx="2667000" cy="1587500"/>
          </a:xfrm>
        </p:grpSpPr>
        <p:sp>
          <p:nvSpPr>
            <p:cNvPr id="44" name="card-vi-box"/>
            <p:cNvSpPr/>
            <p:nvPr/>
          </p:nvSpPr>
          <p:spPr>
            <a:xfrm>
              <a:off x="533400" y="48006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46" name="vi-eyebrow"/>
            <p:cNvSpPr txBox="1"/>
            <p:nvPr/>
          </p:nvSpPr>
          <p:spPr>
            <a:xfrm>
              <a:off x="728028" y="4960810"/>
              <a:ext cx="63906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118"/>
                </a:lnSpc>
                <a:buNone/>
              </a:pPr>
              <a:r>
                <a:rPr lang="vi-VN" sz="860" b="1" dirty="0">
                  <a:solidFill>
                    <a:srgbClr val="F26B3A"/>
                  </a:solidFill>
                  <a:latin typeface="Arial"/>
                  <a:ea typeface="Arial"/>
                  <a:cs typeface="Arial"/>
                </a:rPr>
                <a:t>Tiếng Việt</a:t>
              </a:r>
              <a:endParaRPr lang="en-US" sz="860" dirty="0"/>
            </a:p>
          </p:txBody>
        </p:sp>
        <p:sp>
          <p:nvSpPr>
            <p:cNvPr id="47" name="vi-heading"/>
            <p:cNvSpPr txBox="1"/>
            <p:nvPr/>
          </p:nvSpPr>
          <p:spPr>
            <a:xfrm>
              <a:off x="716852" y="5223472"/>
              <a:ext cx="186176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60"/>
                </a:lnSpc>
                <a:buNone/>
              </a:pPr>
              <a:r>
                <a:rPr lang="vi-VN" sz="1508" b="1" dirty="0">
                  <a:solidFill>
                    <a:srgbClr val="1B2340"/>
                  </a:solidFill>
                  <a:latin typeface="Arial"/>
                  <a:ea typeface="Arial"/>
                  <a:cs typeface="Arial"/>
                </a:rPr>
                <a:t>Báo cáo hàng quý</a:t>
              </a:r>
              <a:endParaRPr lang="en-US" sz="1508" dirty="0"/>
            </a:p>
          </p:txBody>
        </p:sp>
        <p:sp>
          <p:nvSpPr>
            <p:cNvPr id="48" name="vi-lines"/>
            <p:cNvSpPr txBox="1"/>
            <p:nvPr/>
          </p:nvSpPr>
          <p:spPr>
            <a:xfrm>
              <a:off x="720217" y="5616575"/>
              <a:ext cx="181782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700"/>
                </a:lnSpc>
                <a:buNone/>
              </a:pPr>
              <a:r>
                <a:rPr lang="vi-VN" sz="1053" dirty="0">
                  <a:solidFill>
                    <a:srgbClr val="4A5268"/>
                  </a:solidFill>
                  <a:latin typeface="Arial"/>
                  <a:ea typeface="Arial"/>
                  <a:cs typeface="Arial"/>
                </a:rPr>
                <a:t>Doanh thu tăng 12%</a:t>
              </a:r>
              <a:br>
                <a:rPr lang="en-US" sz="1053" dirty="0"/>
              </a:br>
              <a:r>
                <a:rPr lang="vi-VN" sz="1053" dirty="0">
                  <a:solidFill>
                    <a:srgbClr val="4A5268"/>
                  </a:solidFill>
                  <a:latin typeface="Arial"/>
                  <a:ea typeface="Arial"/>
                  <a:cs typeface="Arial"/>
                </a:rPr>
                <a:t>Ra mắt sản phẩm vào quý 3</a:t>
              </a:r>
              <a:endParaRPr lang="en-US" sz="1053" dirty="0"/>
            </a:p>
          </p:txBody>
        </p:sp>
      </p:grpSp>
      <p:grpSp>
        <p:nvGrpSpPr>
          <p:cNvPr id="50" name="card-ru"/>
          <p:cNvGrpSpPr/>
          <p:nvPr/>
        </p:nvGrpSpPr>
        <p:grpSpPr>
          <a:xfrm>
            <a:off x="3352800" y="4800600"/>
            <a:ext cx="2667000" cy="1587500"/>
            <a:chOff x="3352800" y="4800600"/>
            <a:chExt cx="2667000" cy="1587500"/>
          </a:xfrm>
        </p:grpSpPr>
        <p:sp>
          <p:nvSpPr>
            <p:cNvPr id="49" name="card-ru-box"/>
            <p:cNvSpPr/>
            <p:nvPr/>
          </p:nvSpPr>
          <p:spPr>
            <a:xfrm>
              <a:off x="3352800" y="48006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51" name="ru-eyebrow"/>
            <p:cNvSpPr txBox="1"/>
            <p:nvPr/>
          </p:nvSpPr>
          <p:spPr>
            <a:xfrm>
              <a:off x="3542030" y="4960810"/>
              <a:ext cx="49301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118"/>
                </a:lnSpc>
                <a:buNone/>
              </a:pPr>
              <a:r>
                <a:rPr lang="ru-RU" sz="860" b="1" dirty="0">
                  <a:solidFill>
                    <a:srgbClr val="F26B3A"/>
                  </a:solidFill>
                  <a:latin typeface="Calibri"/>
                  <a:ea typeface="Calibri"/>
                  <a:cs typeface="Calibri"/>
                </a:rPr>
                <a:t>Русский</a:t>
              </a:r>
              <a:endParaRPr lang="en-US" sz="860" dirty="0"/>
            </a:p>
          </p:txBody>
        </p:sp>
        <p:sp>
          <p:nvSpPr>
            <p:cNvPr id="52" name="ru-heading"/>
            <p:cNvSpPr txBox="1"/>
            <p:nvPr/>
          </p:nvSpPr>
          <p:spPr>
            <a:xfrm>
              <a:off x="3536252" y="5223472"/>
              <a:ext cx="181096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60"/>
                </a:lnSpc>
                <a:buNone/>
              </a:pPr>
              <a:r>
                <a:rPr lang="ru-RU" sz="1508" b="1" dirty="0">
                  <a:solidFill>
                    <a:srgbClr val="1B2340"/>
                  </a:solidFill>
                  <a:latin typeface="Calibri"/>
                  <a:ea typeface="Calibri"/>
                  <a:cs typeface="Calibri"/>
                </a:rPr>
                <a:t>Квартальный отчёт</a:t>
              </a:r>
              <a:endParaRPr lang="en-US" sz="1508" dirty="0"/>
            </a:p>
          </p:txBody>
        </p:sp>
        <p:sp>
          <p:nvSpPr>
            <p:cNvPr id="53" name="ru-lines"/>
            <p:cNvSpPr txBox="1"/>
            <p:nvPr/>
          </p:nvSpPr>
          <p:spPr>
            <a:xfrm>
              <a:off x="3538601" y="5616575"/>
              <a:ext cx="194482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700"/>
                </a:lnSpc>
                <a:buNone/>
              </a:pPr>
              <a:r>
                <a:rPr lang="ru-RU" sz="1053" dirty="0">
                  <a:solidFill>
                    <a:srgbClr val="4A5268"/>
                  </a:solidFill>
                  <a:latin typeface="Calibri"/>
                  <a:ea typeface="Calibri"/>
                  <a:cs typeface="Calibri"/>
                </a:rPr>
                <a:t>Рост выручки на 12%</a:t>
              </a:r>
              <a:br>
                <a:rPr lang="en-US" sz="1053" dirty="0"/>
              </a:br>
              <a:r>
                <a:rPr lang="ru-RU" sz="1053" dirty="0">
                  <a:solidFill>
                    <a:srgbClr val="4A5268"/>
                  </a:solidFill>
                  <a:latin typeface="Calibri"/>
                  <a:ea typeface="Calibri"/>
                  <a:cs typeface="Calibri"/>
                </a:rPr>
                <a:t>Запуск продукта в 3-м квартале</a:t>
              </a:r>
              <a:endParaRPr lang="en-US" sz="1053" dirty="0"/>
            </a:p>
          </p:txBody>
        </p:sp>
      </p:grpSp>
      <p:grpSp>
        <p:nvGrpSpPr>
          <p:cNvPr id="55" name="card-el"/>
          <p:cNvGrpSpPr/>
          <p:nvPr/>
        </p:nvGrpSpPr>
        <p:grpSpPr>
          <a:xfrm>
            <a:off x="6172200" y="4800600"/>
            <a:ext cx="2667000" cy="1587500"/>
            <a:chOff x="6172200" y="4800600"/>
            <a:chExt cx="2667000" cy="1587500"/>
          </a:xfrm>
        </p:grpSpPr>
        <p:sp>
          <p:nvSpPr>
            <p:cNvPr id="54" name="card-el-box"/>
            <p:cNvSpPr/>
            <p:nvPr/>
          </p:nvSpPr>
          <p:spPr>
            <a:xfrm>
              <a:off x="6172200" y="48006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56" name="el-eyebrow"/>
            <p:cNvSpPr txBox="1"/>
            <p:nvPr/>
          </p:nvSpPr>
          <p:spPr>
            <a:xfrm>
              <a:off x="6359716" y="4973510"/>
              <a:ext cx="57556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118"/>
                </a:lnSpc>
                <a:buNone/>
              </a:pPr>
              <a:r>
                <a:rPr lang="el-GR" sz="860" dirty="0">
                  <a:solidFill>
                    <a:srgbClr val="F26B3A"/>
                  </a:solidFill>
                  <a:latin typeface="Segoe UI Semibold"/>
                  <a:ea typeface="Segoe UI Semibold"/>
                  <a:cs typeface="Segoe UI Semibold"/>
                </a:rPr>
                <a:t>Ελληνικά</a:t>
              </a:r>
              <a:endParaRPr lang="en-US" sz="860" dirty="0"/>
            </a:p>
          </p:txBody>
        </p:sp>
        <p:sp>
          <p:nvSpPr>
            <p:cNvPr id="57" name="el-heading"/>
            <p:cNvSpPr txBox="1"/>
            <p:nvPr/>
          </p:nvSpPr>
          <p:spPr>
            <a:xfrm>
              <a:off x="6359842" y="5236172"/>
              <a:ext cx="211576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60"/>
                </a:lnSpc>
                <a:buNone/>
              </a:pPr>
              <a:r>
                <a:rPr lang="el-GR" sz="1508" b="1" dirty="0">
                  <a:solidFill>
                    <a:srgbClr val="1B2340"/>
                  </a:solidFill>
                  <a:latin typeface="Segoe UI"/>
                  <a:ea typeface="Segoe UI"/>
                  <a:cs typeface="Segoe UI"/>
                </a:rPr>
                <a:t>Τριμηνιαία αναφορά</a:t>
              </a:r>
              <a:endParaRPr lang="en-US" sz="1508" dirty="0"/>
            </a:p>
          </p:txBody>
        </p:sp>
        <p:sp>
          <p:nvSpPr>
            <p:cNvPr id="58" name="el-lines"/>
            <p:cNvSpPr txBox="1"/>
            <p:nvPr/>
          </p:nvSpPr>
          <p:spPr>
            <a:xfrm>
              <a:off x="6361366" y="5629275"/>
              <a:ext cx="190037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700"/>
                </a:lnSpc>
                <a:buNone/>
              </a:pPr>
              <a:r>
                <a:rPr lang="el-GR" sz="1053" dirty="0">
                  <a:solidFill>
                    <a:srgbClr val="4A5268"/>
                  </a:solidFill>
                  <a:latin typeface="Segoe UI"/>
                  <a:ea typeface="Segoe UI"/>
                  <a:cs typeface="Segoe UI"/>
                </a:rPr>
                <a:t>Αύξηση εσόδων 12%</a:t>
              </a:r>
              <a:br>
                <a:rPr lang="en-US" sz="1053" dirty="0"/>
              </a:br>
              <a:r>
                <a:rPr lang="el-GR" sz="1053" dirty="0">
                  <a:solidFill>
                    <a:srgbClr val="4A5268"/>
                  </a:solidFill>
                  <a:latin typeface="Segoe UI"/>
                  <a:ea typeface="Segoe UI"/>
                  <a:cs typeface="Segoe UI"/>
                </a:rPr>
                <a:t>Νέο προϊόν το τρίτο τρίμηνο</a:t>
              </a:r>
              <a:endParaRPr lang="en-US" sz="1053" dirty="0"/>
            </a:p>
          </p:txBody>
        </p:sp>
      </p:grpSp>
      <p:grpSp>
        <p:nvGrpSpPr>
          <p:cNvPr id="60" name="card-es"/>
          <p:cNvGrpSpPr/>
          <p:nvPr/>
        </p:nvGrpSpPr>
        <p:grpSpPr>
          <a:xfrm>
            <a:off x="8991600" y="4800600"/>
            <a:ext cx="2667000" cy="1587500"/>
            <a:chOff x="8991600" y="4800600"/>
            <a:chExt cx="2667000" cy="1587500"/>
          </a:xfrm>
        </p:grpSpPr>
        <p:sp>
          <p:nvSpPr>
            <p:cNvPr id="59" name="card-es-box"/>
            <p:cNvSpPr/>
            <p:nvPr/>
          </p:nvSpPr>
          <p:spPr>
            <a:xfrm>
              <a:off x="8991600" y="4800600"/>
              <a:ext cx="2667000" cy="15875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2700" cap="flat">
              <a:solidFill>
                <a:srgbClr val="E3E7EF"/>
              </a:solidFill>
            </a:ln>
          </p:spPr>
        </p:sp>
        <p:sp>
          <p:nvSpPr>
            <p:cNvPr id="61" name="es-eyebrow"/>
            <p:cNvSpPr txBox="1"/>
            <p:nvPr/>
          </p:nvSpPr>
          <p:spPr>
            <a:xfrm>
              <a:off x="9179179" y="4973510"/>
              <a:ext cx="493014" cy="141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118"/>
                </a:lnSpc>
                <a:buNone/>
              </a:pPr>
              <a:r>
                <a:rPr lang="es-ES" sz="860" dirty="0">
                  <a:solidFill>
                    <a:srgbClr val="F26B3A"/>
                  </a:solidFill>
                  <a:latin typeface="Segoe UI Semibold"/>
                  <a:ea typeface="Segoe UI Semibold"/>
                  <a:cs typeface="Segoe UI Semibold"/>
                </a:rPr>
                <a:t>Español</a:t>
              </a:r>
              <a:endParaRPr lang="en-US" sz="860" dirty="0"/>
            </a:p>
          </p:txBody>
        </p:sp>
        <p:sp>
          <p:nvSpPr>
            <p:cNvPr id="62" name="es-heading"/>
            <p:cNvSpPr txBox="1"/>
            <p:nvPr/>
          </p:nvSpPr>
          <p:spPr>
            <a:xfrm>
              <a:off x="9179496" y="5236172"/>
              <a:ext cx="1855419" cy="2489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60"/>
                </a:lnSpc>
                <a:buNone/>
              </a:pPr>
              <a:r>
                <a:rPr lang="es-ES" sz="1508" b="1" dirty="0">
                  <a:solidFill>
                    <a:srgbClr val="1B2340"/>
                  </a:solidFill>
                  <a:latin typeface="Segoe UI"/>
                  <a:ea typeface="Segoe UI"/>
                  <a:cs typeface="Segoe UI"/>
                </a:rPr>
                <a:t>Informe trimestral</a:t>
              </a:r>
              <a:endParaRPr lang="en-US" sz="1508" dirty="0"/>
            </a:p>
          </p:txBody>
        </p:sp>
        <p:sp>
          <p:nvSpPr>
            <p:cNvPr id="63" name="es-lines"/>
            <p:cNvSpPr txBox="1"/>
            <p:nvPr/>
          </p:nvSpPr>
          <p:spPr>
            <a:xfrm>
              <a:off x="9176385" y="5629275"/>
              <a:ext cx="2192477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700"/>
                </a:lnSpc>
                <a:buNone/>
              </a:pPr>
              <a:r>
                <a:rPr lang="es-ES" sz="1053" dirty="0">
                  <a:solidFill>
                    <a:srgbClr val="4A5268"/>
                  </a:solidFill>
                  <a:latin typeface="Segoe UI"/>
                  <a:ea typeface="Segoe UI"/>
                  <a:cs typeface="Segoe UI"/>
                </a:rPr>
                <a:t>Ingresos +12 %</a:t>
              </a:r>
              <a:br>
                <a:rPr lang="en-US" sz="1053" dirty="0"/>
              </a:br>
              <a:r>
                <a:rPr lang="es-ES" sz="1053" dirty="0">
                  <a:solidFill>
                    <a:srgbClr val="4A5268"/>
                  </a:solidFill>
                  <a:latin typeface="Segoe UI"/>
                  <a:ea typeface="Segoe UI"/>
                  <a:cs typeface="Segoe UI"/>
                </a:rPr>
                <a:t>Lanzamiento del producto en el T3</a:t>
              </a:r>
              <a:endParaRPr lang="en-US" sz="1053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unscreenshot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Quarterly update in twelve scripts</dc:title>
  <dc:creator>unscreenshot</dc:creator>
  <dcterms:created xsi:type="dcterms:W3CDTF">2026-10-09T10:28:36Z</dcterms:created>
  <dcterms:modified xsi:type="dcterms:W3CDTF">2026-10-09T10:28:36Z</dcterms:modified>
</cp:coreProperties>
</file>