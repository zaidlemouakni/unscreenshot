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18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bar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1B2340"/>
          </a:solidFill>
          <a:ln>
            <a:noFill/>
          </a:ln>
        </p:spPr>
      </p:sp>
      <p:sp>
        <p:nvSpPr>
          <p:cNvPr id="3" name="eyebrow"/>
          <p:cNvSpPr txBox="1"/>
          <p:nvPr/>
        </p:nvSpPr>
        <p:spPr>
          <a:xfrm>
            <a:off x="606806" y="294586"/>
            <a:ext cx="1794967" cy="14908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174"/>
              </a:lnSpc>
              <a:buNone/>
            </a:pPr>
            <a:r>
              <a:rPr lang="en-US" sz="903" b="1" spc="166" dirty="0">
                <a:solidFill>
                  <a:srgbClr val="6B7392"/>
                </a:solidFill>
                <a:latin typeface="Century Gothic"/>
                <a:ea typeface="Century Gothic"/>
                <a:cs typeface="Century Gothic"/>
              </a:rPr>
              <a:t>NORTHWIND LOGISTICS  |  </a:t>
            </a:r>
            <a:r>
              <a:rPr lang="en-US" sz="903" b="1" spc="166" dirty="0">
                <a:solidFill>
                  <a:srgbClr val="F26B3A"/>
                </a:solidFill>
                <a:latin typeface="Century Gothic"/>
                <a:ea typeface="Century Gothic"/>
                <a:cs typeface="Century Gothic"/>
              </a:rPr>
              <a:t>OPERATIONS PLAN 2027</a:t>
            </a:r>
            <a:endParaRPr lang="en-US" sz="903" dirty="0"/>
          </a:p>
        </p:txBody>
      </p:sp>
      <p:sp>
        <p:nvSpPr>
          <p:cNvPr id="4" name="page-number"/>
          <p:cNvSpPr txBox="1"/>
          <p:nvPr/>
        </p:nvSpPr>
        <p:spPr>
          <a:xfrm>
            <a:off x="11275949" y="266938"/>
            <a:ext cx="309880" cy="1774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r">
              <a:lnSpc>
                <a:spcPts val="1398"/>
              </a:lnSpc>
              <a:buNone/>
            </a:pPr>
            <a:r>
              <a:rPr lang="en-US" sz="1075" b="1" dirty="0">
                <a:solidFill>
                  <a:srgbClr val="6B7392"/>
                </a:solidFill>
                <a:latin typeface="Century Gothic"/>
                <a:ea typeface="Century Gothic"/>
                <a:cs typeface="Century Gothic"/>
              </a:rPr>
              <a:t>04</a:t>
            </a:r>
            <a:endParaRPr lang="en-US" sz="1075" dirty="0"/>
          </a:p>
        </p:txBody>
      </p:sp>
      <p:grpSp>
        <p:nvGrpSpPr>
          <p:cNvPr id="6" name="title-lines"/>
          <p:cNvGrpSpPr/>
          <p:nvPr/>
        </p:nvGrpSpPr>
        <p:grpSpPr>
          <a:xfrm>
            <a:off x="610489" y="654706"/>
            <a:ext cx="7250405" cy="879659"/>
            <a:chOff x="610489" y="654706"/>
            <a:chExt cx="7250405" cy="879659"/>
          </a:xfrm>
        </p:grpSpPr>
        <p:sp>
          <p:nvSpPr>
            <p:cNvPr id="5" name="title-l1"/>
            <p:cNvSpPr txBox="1"/>
            <p:nvPr/>
          </p:nvSpPr>
          <p:spPr>
            <a:xfrm>
              <a:off x="610489" y="654706"/>
              <a:ext cx="7250405" cy="4732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3726"/>
                </a:lnSpc>
                <a:buNone/>
              </a:pPr>
              <a:r>
                <a:rPr lang="en-US" sz="2866" b="1" dirty="0">
                  <a:solidFill>
                    <a:srgbClr val="1B2340"/>
                  </a:solidFill>
                  <a:latin typeface="Century Gothic"/>
                  <a:ea typeface="Century Gothic"/>
                  <a:cs typeface="Century Gothic"/>
                </a:rPr>
                <a:t>Faster deliveries, lower cost per parcel:</a:t>
              </a:r>
              <a:endParaRPr lang="en-US" sz="2866" dirty="0"/>
            </a:p>
          </p:txBody>
        </p:sp>
        <p:sp>
          <p:nvSpPr>
            <p:cNvPr id="7" name="title-l2"/>
            <p:cNvSpPr txBox="1"/>
            <p:nvPr/>
          </p:nvSpPr>
          <p:spPr>
            <a:xfrm>
              <a:off x="610489" y="1061106"/>
              <a:ext cx="7250405" cy="4732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3726"/>
                </a:lnSpc>
                <a:buNone/>
              </a:pPr>
              <a:r>
                <a:rPr lang="en-US" sz="2866" b="1" dirty="0">
                  <a:solidFill>
                    <a:srgbClr val="1B2340"/>
                  </a:solidFill>
                  <a:latin typeface="Century Gothic"/>
                  <a:ea typeface="Century Gothic"/>
                  <a:cs typeface="Century Gothic"/>
                </a:rPr>
                <a:t>three moves for next year.</a:t>
              </a:r>
              <a:endParaRPr lang="en-US" sz="2866" dirty="0"/>
            </a:p>
          </p:txBody>
        </p:sp>
      </p:grpSp>
      <p:sp>
        <p:nvSpPr>
          <p:cNvPr id="8" name="subtitle"/>
          <p:cNvSpPr txBox="1"/>
          <p:nvPr/>
        </p:nvSpPr>
        <p:spPr>
          <a:xfrm>
            <a:off x="607886" y="1570384"/>
            <a:ext cx="7841336" cy="2260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780"/>
              </a:lnSpc>
              <a:buNone/>
            </a:pPr>
            <a:r>
              <a:rPr lang="en-US" sz="1369" dirty="0">
                <a:solidFill>
                  <a:srgbClr val="59617E"/>
                </a:solidFill>
                <a:latin typeface="Segoe UI"/>
                <a:ea typeface="Segoe UI"/>
                <a:cs typeface="Segoe UI"/>
              </a:rPr>
              <a:t>We double automated sorting, rebalance the fleet toward electric vans and open two regional hubs.</a:t>
            </a:r>
            <a:endParaRPr lang="en-US" sz="1369" dirty="0"/>
          </a:p>
        </p:txBody>
      </p:sp>
      <p:grpSp>
        <p:nvGrpSpPr>
          <p:cNvPr id="10" name="kpi1"/>
          <p:cNvGrpSpPr/>
          <p:nvPr/>
        </p:nvGrpSpPr>
        <p:grpSpPr>
          <a:xfrm>
            <a:off x="615950" y="2101850"/>
            <a:ext cx="2400300" cy="1193800"/>
            <a:chOff x="615950" y="2101850"/>
            <a:chExt cx="2400300" cy="1193800"/>
          </a:xfrm>
        </p:grpSpPr>
        <p:sp>
          <p:nvSpPr>
            <p:cNvPr id="9" name="kpi1-card"/>
            <p:cNvSpPr/>
            <p:nvPr/>
          </p:nvSpPr>
          <p:spPr>
            <a:xfrm>
              <a:off x="615950" y="2101850"/>
              <a:ext cx="2400300" cy="1193800"/>
            </a:xfrm>
            <a:prstGeom prst="roundRect">
              <a:avLst>
                <a:gd name="adj" fmla="val 9574"/>
              </a:avLst>
            </a:prstGeom>
            <a:solidFill>
              <a:srgbClr val="FFFFFF"/>
            </a:solidFill>
            <a:ln w="12700" cap="flat">
              <a:solidFill>
                <a:srgbClr val="E4E7F0"/>
              </a:solidFill>
            </a:ln>
          </p:spPr>
        </p:sp>
        <p:sp>
          <p:nvSpPr>
            <p:cNvPr id="11" name="kpi1-value"/>
            <p:cNvSpPr txBox="1"/>
            <p:nvPr/>
          </p:nvSpPr>
          <p:spPr>
            <a:xfrm>
              <a:off x="808355" y="2315067"/>
              <a:ext cx="1489202" cy="5539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4361"/>
                </a:lnSpc>
                <a:buNone/>
              </a:pPr>
              <a:r>
                <a:rPr lang="en-US" sz="3355" b="1" dirty="0">
                  <a:solidFill>
                    <a:srgbClr val="F26B3A"/>
                  </a:solidFill>
                  <a:latin typeface="Century Gothic"/>
                  <a:ea typeface="Century Gothic"/>
                  <a:cs typeface="Century Gothic"/>
                </a:rPr>
                <a:t>-18%</a:t>
              </a:r>
              <a:endParaRPr lang="en-US" sz="3355" dirty="0"/>
            </a:p>
          </p:txBody>
        </p:sp>
        <p:sp>
          <p:nvSpPr>
            <p:cNvPr id="12" name="kpi1-label"/>
            <p:cNvSpPr txBox="1"/>
            <p:nvPr/>
          </p:nvSpPr>
          <p:spPr>
            <a:xfrm>
              <a:off x="834326" y="2870200"/>
              <a:ext cx="1065225" cy="355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400"/>
                </a:lnSpc>
                <a:buNone/>
              </a:pPr>
              <a:r>
                <a:rPr lang="en-US" sz="1073" dirty="0">
                  <a:solidFill>
                    <a:srgbClr val="1B2340"/>
                  </a:solidFill>
                  <a:latin typeface="Segoe UI Semibold"/>
                  <a:ea typeface="Segoe UI Semibold"/>
                  <a:cs typeface="Segoe UI Semibold"/>
                </a:rPr>
                <a:t>cost per parcel</a:t>
              </a:r>
              <a:br>
                <a:rPr lang="en-US" sz="1073" dirty="0"/>
              </a:br>
              <a:r>
                <a:rPr lang="en-US" sz="1073" dirty="0">
                  <a:solidFill>
                    <a:srgbClr val="1B2340"/>
                  </a:solidFill>
                  <a:latin typeface="Segoe UI Semibold"/>
                  <a:ea typeface="Segoe UI Semibold"/>
                  <a:cs typeface="Segoe UI Semibold"/>
                </a:rPr>
                <a:t>by Q4 2027</a:t>
              </a:r>
              <a:endParaRPr lang="en-US" sz="1073" dirty="0"/>
            </a:p>
          </p:txBody>
        </p:sp>
      </p:grpSp>
      <p:grpSp>
        <p:nvGrpSpPr>
          <p:cNvPr id="14" name="kpi2"/>
          <p:cNvGrpSpPr/>
          <p:nvPr/>
        </p:nvGrpSpPr>
        <p:grpSpPr>
          <a:xfrm>
            <a:off x="3232150" y="2101850"/>
            <a:ext cx="2400300" cy="1193800"/>
            <a:chOff x="3232150" y="2101850"/>
            <a:chExt cx="2400300" cy="1193800"/>
          </a:xfrm>
        </p:grpSpPr>
        <p:sp>
          <p:nvSpPr>
            <p:cNvPr id="13" name="kpi2-card"/>
            <p:cNvSpPr/>
            <p:nvPr/>
          </p:nvSpPr>
          <p:spPr>
            <a:xfrm>
              <a:off x="3232150" y="2101850"/>
              <a:ext cx="2400300" cy="1193800"/>
            </a:xfrm>
            <a:prstGeom prst="roundRect">
              <a:avLst>
                <a:gd name="adj" fmla="val 9574"/>
              </a:avLst>
            </a:prstGeom>
            <a:solidFill>
              <a:srgbClr val="FFFFFF"/>
            </a:solidFill>
            <a:ln w="12700" cap="flat">
              <a:solidFill>
                <a:srgbClr val="E4E7F0"/>
              </a:solidFill>
            </a:ln>
          </p:spPr>
        </p:sp>
        <p:sp>
          <p:nvSpPr>
            <p:cNvPr id="15" name="kpi2-value"/>
            <p:cNvSpPr txBox="1"/>
            <p:nvPr/>
          </p:nvSpPr>
          <p:spPr>
            <a:xfrm>
              <a:off x="3445828" y="2315067"/>
              <a:ext cx="2105152" cy="5539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4361"/>
                </a:lnSpc>
                <a:buNone/>
              </a:pPr>
              <a:r>
                <a:rPr lang="en-US" sz="3355" b="1" dirty="0">
                  <a:solidFill>
                    <a:srgbClr val="F26B3A"/>
                  </a:solidFill>
                  <a:latin typeface="Century Gothic"/>
                  <a:ea typeface="Century Gothic"/>
                  <a:cs typeface="Century Gothic"/>
                </a:rPr>
                <a:t>2.1 days</a:t>
              </a:r>
              <a:endParaRPr lang="en-US" sz="3355" dirty="0"/>
            </a:p>
          </p:txBody>
        </p:sp>
        <p:sp>
          <p:nvSpPr>
            <p:cNvPr id="16" name="kpi2-label"/>
            <p:cNvSpPr txBox="1"/>
            <p:nvPr/>
          </p:nvSpPr>
          <p:spPr>
            <a:xfrm>
              <a:off x="3449638" y="2870200"/>
              <a:ext cx="1477975" cy="355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400"/>
                </a:lnSpc>
                <a:buNone/>
              </a:pPr>
              <a:r>
                <a:rPr lang="en-US" sz="1073" dirty="0">
                  <a:solidFill>
                    <a:srgbClr val="1B2340"/>
                  </a:solidFill>
                  <a:latin typeface="Segoe UI Semibold"/>
                  <a:ea typeface="Segoe UI Semibold"/>
                  <a:cs typeface="Segoe UI Semibold"/>
                </a:rPr>
                <a:t>average delivery time</a:t>
              </a:r>
              <a:br>
                <a:rPr lang="en-US" sz="1073" dirty="0"/>
              </a:br>
              <a:r>
                <a:rPr lang="en-US" sz="1073" dirty="0">
                  <a:solidFill>
                    <a:srgbClr val="1B2340"/>
                  </a:solidFill>
                  <a:latin typeface="Segoe UI Semibold"/>
                  <a:ea typeface="Segoe UI Semibold"/>
                  <a:cs typeface="Segoe UI Semibold"/>
                </a:rPr>
                <a:t>(from 3.4 days)</a:t>
              </a:r>
              <a:endParaRPr lang="en-US" sz="1073" dirty="0"/>
            </a:p>
          </p:txBody>
        </p:sp>
      </p:grpSp>
      <p:grpSp>
        <p:nvGrpSpPr>
          <p:cNvPr id="18" name="kpi3"/>
          <p:cNvGrpSpPr/>
          <p:nvPr/>
        </p:nvGrpSpPr>
        <p:grpSpPr>
          <a:xfrm>
            <a:off x="5848350" y="2101850"/>
            <a:ext cx="2400300" cy="1193800"/>
            <a:chOff x="5848350" y="2101850"/>
            <a:chExt cx="2400300" cy="1193800"/>
          </a:xfrm>
        </p:grpSpPr>
        <p:sp>
          <p:nvSpPr>
            <p:cNvPr id="17" name="kpi3-card"/>
            <p:cNvSpPr/>
            <p:nvPr/>
          </p:nvSpPr>
          <p:spPr>
            <a:xfrm>
              <a:off x="5848350" y="2101850"/>
              <a:ext cx="2400300" cy="1193800"/>
            </a:xfrm>
            <a:prstGeom prst="roundRect">
              <a:avLst>
                <a:gd name="adj" fmla="val 9574"/>
              </a:avLst>
            </a:prstGeom>
            <a:solidFill>
              <a:srgbClr val="FFFFFF"/>
            </a:solidFill>
            <a:ln w="12700" cap="flat">
              <a:solidFill>
                <a:srgbClr val="E4E7F0"/>
              </a:solidFill>
            </a:ln>
          </p:spPr>
        </p:sp>
        <p:sp>
          <p:nvSpPr>
            <p:cNvPr id="19" name="kpi3-value"/>
            <p:cNvSpPr txBox="1"/>
            <p:nvPr/>
          </p:nvSpPr>
          <p:spPr>
            <a:xfrm>
              <a:off x="6062028" y="2308717"/>
              <a:ext cx="1355852" cy="5539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4361"/>
                </a:lnSpc>
                <a:buNone/>
              </a:pPr>
              <a:r>
                <a:rPr lang="en-US" sz="3355" b="1" dirty="0">
                  <a:solidFill>
                    <a:srgbClr val="F26B3A"/>
                  </a:solidFill>
                  <a:latin typeface="Century Gothic"/>
                  <a:ea typeface="Century Gothic"/>
                  <a:cs typeface="Century Gothic"/>
                </a:rPr>
                <a:t>60%</a:t>
              </a:r>
              <a:endParaRPr lang="en-US" sz="3355" dirty="0"/>
            </a:p>
          </p:txBody>
        </p:sp>
        <p:sp>
          <p:nvSpPr>
            <p:cNvPr id="20" name="kpi3-label"/>
            <p:cNvSpPr txBox="1"/>
            <p:nvPr/>
          </p:nvSpPr>
          <p:spPr>
            <a:xfrm>
              <a:off x="6065139" y="2870200"/>
              <a:ext cx="1312875" cy="355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400"/>
                </a:lnSpc>
                <a:buNone/>
              </a:pPr>
              <a:r>
                <a:rPr lang="en-US" sz="1073" dirty="0">
                  <a:solidFill>
                    <a:srgbClr val="1B2340"/>
                  </a:solidFill>
                  <a:latin typeface="Segoe UI Semibold"/>
                  <a:ea typeface="Segoe UI Semibold"/>
                  <a:cs typeface="Segoe UI Semibold"/>
                </a:rPr>
                <a:t>of the fleet electric</a:t>
              </a:r>
              <a:br>
                <a:rPr lang="en-US" sz="1073" dirty="0"/>
              </a:br>
              <a:r>
                <a:rPr lang="en-US" sz="1073" dirty="0">
                  <a:solidFill>
                    <a:srgbClr val="1B2340"/>
                  </a:solidFill>
                  <a:latin typeface="Segoe UI Semibold"/>
                  <a:ea typeface="Segoe UI Semibold"/>
                  <a:cs typeface="Segoe UI Semibold"/>
                </a:rPr>
                <a:t>(from 22%)</a:t>
              </a:r>
              <a:endParaRPr lang="en-US" sz="1073" dirty="0"/>
            </a:p>
          </p:txBody>
        </p:sp>
      </p:grpSp>
      <p:grpSp>
        <p:nvGrpSpPr>
          <p:cNvPr id="22" name="risks"/>
          <p:cNvGrpSpPr/>
          <p:nvPr/>
        </p:nvGrpSpPr>
        <p:grpSpPr>
          <a:xfrm>
            <a:off x="8483600" y="2095500"/>
            <a:ext cx="3098800" cy="2730500"/>
            <a:chOff x="8483600" y="2095500"/>
            <a:chExt cx="3098800" cy="2730500"/>
          </a:xfrm>
        </p:grpSpPr>
        <p:sp>
          <p:nvSpPr>
            <p:cNvPr id="21" name="risks-panel"/>
            <p:cNvSpPr/>
            <p:nvPr/>
          </p:nvSpPr>
          <p:spPr>
            <a:xfrm>
              <a:off x="8483600" y="2095500"/>
              <a:ext cx="3098800" cy="2730500"/>
            </a:xfrm>
            <a:prstGeom prst="roundRect">
              <a:avLst>
                <a:gd name="adj" fmla="val 4186"/>
              </a:avLst>
            </a:prstGeom>
            <a:solidFill>
              <a:srgbClr val="1B2340"/>
            </a:solidFill>
            <a:ln>
              <a:noFill/>
            </a:ln>
          </p:spPr>
        </p:sp>
        <p:sp>
          <p:nvSpPr>
            <p:cNvPr id="23" name="risks-title"/>
            <p:cNvSpPr txBox="1"/>
            <p:nvPr/>
          </p:nvSpPr>
          <p:spPr>
            <a:xfrm>
              <a:off x="8729408" y="2325016"/>
              <a:ext cx="947953" cy="2358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857"/>
                </a:lnSpc>
                <a:buNone/>
              </a:pPr>
              <a:r>
                <a:rPr lang="en-US" sz="1428" b="1" dirty="0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</a:rPr>
                <a:t>Key risks</a:t>
              </a:r>
              <a:endParaRPr lang="en-US" sz="1428" dirty="0"/>
            </a:p>
          </p:txBody>
        </p:sp>
        <p:sp>
          <p:nvSpPr>
            <p:cNvPr id="24" name="risks-list"/>
            <p:cNvSpPr txBox="1"/>
            <p:nvPr/>
          </p:nvSpPr>
          <p:spPr>
            <a:xfrm>
              <a:off x="8747950" y="2627312"/>
              <a:ext cx="2731567" cy="1193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l" marL="199136" indent="-199136">
                <a:lnSpc>
                  <a:spcPts val="2350"/>
                </a:lnSpc>
                <a:buClr>
                  <a:srgbClr val="F26B3A"/>
                </a:buClr>
                <a:buSzPct val="125000"/>
                <a:buFont typeface="Arial"/>
                <a:buChar char="●"/>
              </a:pPr>
              <a:r>
                <a:rPr lang="en-US" sz="1117" dirty="0">
                  <a:solidFill>
                    <a:srgbClr val="D7DBEA"/>
                  </a:solidFill>
                  <a:latin typeface="Segoe UI"/>
                  <a:ea typeface="Segoe UI"/>
                  <a:cs typeface="Segoe UI"/>
                </a:rPr>
                <a:t>Sorter supplier lead times slip past Q2</a:t>
              </a:r>
              <a:endParaRPr lang="en-US" sz="1117" dirty="0"/>
            </a:p>
            <a:p>
              <a:pPr algn="l" marL="199136" indent="-199136">
                <a:lnSpc>
                  <a:spcPts val="2350"/>
                </a:lnSpc>
                <a:buClr>
                  <a:srgbClr val="F26B3A"/>
                </a:buClr>
                <a:buSzPct val="125000"/>
                <a:buFont typeface="Arial"/>
                <a:buChar char="●"/>
              </a:pPr>
              <a:r>
                <a:rPr lang="en-US" sz="1117" dirty="0">
                  <a:solidFill>
                    <a:srgbClr val="D7DBEA"/>
                  </a:solidFill>
                  <a:latin typeface="Segoe UI"/>
                  <a:ea typeface="Segoe UI"/>
                  <a:cs typeface="Segoe UI"/>
                </a:rPr>
                <a:t>Charging capacity at the Leeds depot</a:t>
              </a:r>
              <a:endParaRPr lang="en-US" sz="1117" dirty="0"/>
            </a:p>
            <a:p>
              <a:pPr algn="l" marL="199136" indent="-199136">
                <a:lnSpc>
                  <a:spcPts val="2350"/>
                </a:lnSpc>
                <a:buClr>
                  <a:srgbClr val="F26B3A"/>
                </a:buClr>
                <a:buSzPct val="125000"/>
                <a:buFont typeface="Arial"/>
                <a:buChar char="●"/>
              </a:pPr>
              <a:r>
                <a:rPr lang="en-US" sz="1117" dirty="0">
                  <a:solidFill>
                    <a:srgbClr val="D7DBEA"/>
                  </a:solidFill>
                  <a:latin typeface="Segoe UI"/>
                  <a:ea typeface="Segoe UI"/>
                  <a:cs typeface="Segoe UI"/>
                </a:rPr>
                <a:t>Hiring 40 technicians in a tight market</a:t>
              </a:r>
              <a:endParaRPr lang="en-US" sz="1117" dirty="0"/>
            </a:p>
            <a:p>
              <a:pPr algn="l" marL="199136" indent="-199136">
                <a:lnSpc>
                  <a:spcPts val="2350"/>
                </a:lnSpc>
                <a:buClr>
                  <a:srgbClr val="F26B3A"/>
                </a:buClr>
                <a:buSzPct val="125000"/>
                <a:buFont typeface="Arial"/>
                <a:buChar char="●"/>
              </a:pPr>
              <a:r>
                <a:rPr lang="en-US" sz="1117" dirty="0">
                  <a:solidFill>
                    <a:srgbClr val="D7DBEA"/>
                  </a:solidFill>
                  <a:latin typeface="Segoe UI"/>
                  <a:ea typeface="Segoe UI"/>
                  <a:cs typeface="Segoe UI"/>
                </a:rPr>
                <a:t>Hub permits in the Rhine region</a:t>
              </a:r>
              <a:endParaRPr lang="en-US" sz="1117" dirty="0"/>
            </a:p>
          </p:txBody>
        </p:sp>
      </p:grpSp>
      <p:sp>
        <p:nvSpPr>
          <p:cNvPr id="25" name="roadmap-label"/>
          <p:cNvSpPr txBox="1"/>
          <p:nvPr/>
        </p:nvSpPr>
        <p:spPr>
          <a:xfrm>
            <a:off x="604838" y="3651542"/>
            <a:ext cx="865683" cy="1604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264"/>
              </a:lnSpc>
              <a:buNone/>
            </a:pPr>
            <a:r>
              <a:rPr lang="en-US" sz="972" b="1" spc="144" dirty="0">
                <a:solidFill>
                  <a:srgbClr val="6B7392"/>
                </a:solidFill>
                <a:latin typeface="Century Gothic"/>
                <a:ea typeface="Century Gothic"/>
                <a:cs typeface="Century Gothic"/>
              </a:rPr>
              <a:t>ROADMAP</a:t>
            </a:r>
            <a:endParaRPr lang="en-US" sz="972" dirty="0"/>
          </a:p>
        </p:txBody>
      </p:sp>
      <p:grpSp>
        <p:nvGrpSpPr>
          <p:cNvPr id="27" name="roadmap"/>
          <p:cNvGrpSpPr/>
          <p:nvPr/>
        </p:nvGrpSpPr>
        <p:grpSpPr>
          <a:xfrm>
            <a:off x="609600" y="3937000"/>
            <a:ext cx="7315200" cy="925512"/>
            <a:chOff x="609600" y="3937000"/>
            <a:chExt cx="7315200" cy="925512"/>
          </a:xfrm>
        </p:grpSpPr>
        <p:sp>
          <p:nvSpPr>
            <p:cNvPr id="26" name="q1-bar"/>
            <p:cNvSpPr/>
            <p:nvPr/>
          </p:nvSpPr>
          <p:spPr>
            <a:xfrm>
              <a:off x="609600" y="3937000"/>
              <a:ext cx="1905000" cy="457200"/>
            </a:xfrm>
            <a:prstGeom prst="homePlate">
              <a:avLst>
                <a:gd name="adj" fmla="val 38889"/>
              </a:avLst>
            </a:prstGeom>
            <a:solidFill>
              <a:srgbClr val="1B2340"/>
            </a:solidFill>
            <a:ln>
              <a:noFill/>
            </a:ln>
          </p:spPr>
        </p:sp>
        <p:sp>
          <p:nvSpPr>
            <p:cNvPr id="28" name="q2-bar"/>
            <p:cNvSpPr/>
            <p:nvPr/>
          </p:nvSpPr>
          <p:spPr>
            <a:xfrm>
              <a:off x="2413000" y="3937000"/>
              <a:ext cx="1905000" cy="457200"/>
            </a:xfrm>
            <a:prstGeom prst="chevron">
              <a:avLst>
                <a:gd name="adj" fmla="val 38889"/>
              </a:avLst>
            </a:prstGeom>
            <a:solidFill>
              <a:srgbClr val="3A4470"/>
            </a:solidFill>
            <a:ln>
              <a:noFill/>
            </a:ln>
          </p:spPr>
        </p:sp>
        <p:sp>
          <p:nvSpPr>
            <p:cNvPr id="29" name="q3-bar"/>
            <p:cNvSpPr/>
            <p:nvPr/>
          </p:nvSpPr>
          <p:spPr>
            <a:xfrm>
              <a:off x="4216400" y="3937000"/>
              <a:ext cx="1905000" cy="457200"/>
            </a:xfrm>
            <a:prstGeom prst="chevron">
              <a:avLst>
                <a:gd name="adj" fmla="val 38889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0" name="q4-bar"/>
            <p:cNvSpPr/>
            <p:nvPr/>
          </p:nvSpPr>
          <p:spPr>
            <a:xfrm>
              <a:off x="6019800" y="3937000"/>
              <a:ext cx="1905000" cy="457200"/>
            </a:xfrm>
            <a:prstGeom prst="chevron">
              <a:avLst>
                <a:gd name="adj" fmla="val 38889"/>
              </a:avLst>
            </a:prstGeom>
            <a:solidFill>
              <a:srgbClr val="F59B73"/>
            </a:solidFill>
            <a:ln>
              <a:noFill/>
            </a:ln>
          </p:spPr>
        </p:sp>
        <p:sp>
          <p:nvSpPr>
            <p:cNvPr id="31" name="q1-label"/>
            <p:cNvSpPr txBox="1"/>
            <p:nvPr/>
          </p:nvSpPr>
          <p:spPr>
            <a:xfrm>
              <a:off x="1181036" y="4077716"/>
              <a:ext cx="919988" cy="1849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456"/>
                </a:lnSpc>
                <a:buNone/>
              </a:pPr>
              <a:r>
                <a:rPr lang="en-US" sz="1120" b="1" dirty="0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</a:rPr>
                <a:t>Q1 · Design</a:t>
              </a:r>
              <a:endParaRPr lang="en-US" sz="1120" dirty="0"/>
            </a:p>
          </p:txBody>
        </p:sp>
        <p:sp>
          <p:nvSpPr>
            <p:cNvPr id="32" name="q2-label"/>
            <p:cNvSpPr txBox="1"/>
            <p:nvPr/>
          </p:nvSpPr>
          <p:spPr>
            <a:xfrm>
              <a:off x="3060636" y="4077716"/>
              <a:ext cx="767588" cy="1849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456"/>
                </a:lnSpc>
                <a:buNone/>
              </a:pPr>
              <a:r>
                <a:rPr lang="en-US" sz="1120" b="1" dirty="0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</a:rPr>
                <a:t>Q2 · Pilot</a:t>
              </a:r>
              <a:endParaRPr lang="en-US" sz="1120" dirty="0"/>
            </a:p>
          </p:txBody>
        </p:sp>
        <p:sp>
          <p:nvSpPr>
            <p:cNvPr id="33" name="q3-label"/>
            <p:cNvSpPr txBox="1"/>
            <p:nvPr/>
          </p:nvSpPr>
          <p:spPr>
            <a:xfrm>
              <a:off x="4730686" y="4077716"/>
              <a:ext cx="1034288" cy="1849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456"/>
                </a:lnSpc>
                <a:buNone/>
              </a:pPr>
              <a:r>
                <a:rPr lang="en-US" sz="1120" b="1" dirty="0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</a:rPr>
                <a:t>Q3 · Roll-out</a:t>
              </a:r>
              <a:endParaRPr lang="en-US" sz="1120" dirty="0"/>
            </a:p>
          </p:txBody>
        </p:sp>
        <p:sp>
          <p:nvSpPr>
            <p:cNvPr id="34" name="q4-label"/>
            <p:cNvSpPr txBox="1"/>
            <p:nvPr/>
          </p:nvSpPr>
          <p:spPr>
            <a:xfrm>
              <a:off x="6616636" y="4077716"/>
              <a:ext cx="869188" cy="1849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456"/>
                </a:lnSpc>
                <a:buNone/>
              </a:pPr>
              <a:r>
                <a:rPr lang="en-US" sz="1120" b="1" dirty="0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</a:rPr>
                <a:t>Q4 · Scale</a:t>
              </a:r>
              <a:endParaRPr lang="en-US" sz="1120" dirty="0"/>
            </a:p>
          </p:txBody>
        </p:sp>
        <p:sp>
          <p:nvSpPr>
            <p:cNvPr id="35" name="q1-text"/>
            <p:cNvSpPr txBox="1"/>
            <p:nvPr/>
          </p:nvSpPr>
          <p:spPr>
            <a:xfrm>
              <a:off x="694500" y="4519612"/>
              <a:ext cx="1590548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350"/>
                </a:lnSpc>
                <a:buNone/>
              </a:pPr>
              <a:r>
                <a:rPr lang="en-US" sz="1020" dirty="0">
                  <a:solidFill>
                    <a:srgbClr val="59617E"/>
                  </a:solidFill>
                  <a:latin typeface="Segoe UI"/>
                  <a:ea typeface="Segoe UI"/>
                  <a:cs typeface="Segoe UI"/>
                </a:rPr>
                <a:t>Sorter specs, fleet tender,</a:t>
              </a:r>
              <a:br>
                <a:rPr lang="en-US" sz="1020" dirty="0"/>
              </a:br>
              <a:r>
                <a:rPr lang="en-US" sz="1020" dirty="0">
                  <a:solidFill>
                    <a:srgbClr val="59617E"/>
                  </a:solidFill>
                  <a:latin typeface="Segoe UI"/>
                  <a:ea typeface="Segoe UI"/>
                  <a:cs typeface="Segoe UI"/>
                </a:rPr>
                <a:t>hub site shortlist</a:t>
              </a:r>
              <a:endParaRPr lang="en-US" sz="1020" dirty="0"/>
            </a:p>
          </p:txBody>
        </p:sp>
        <p:sp>
          <p:nvSpPr>
            <p:cNvPr id="36" name="q2-text"/>
            <p:cNvSpPr txBox="1"/>
            <p:nvPr/>
          </p:nvSpPr>
          <p:spPr>
            <a:xfrm>
              <a:off x="2502408" y="4519612"/>
              <a:ext cx="1330198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350"/>
                </a:lnSpc>
                <a:buNone/>
              </a:pPr>
              <a:r>
                <a:rPr lang="en-US" sz="1020" dirty="0">
                  <a:solidFill>
                    <a:srgbClr val="59617E"/>
                  </a:solidFill>
                  <a:latin typeface="Segoe UI"/>
                  <a:ea typeface="Segoe UI"/>
                  <a:cs typeface="Segoe UI"/>
                </a:rPr>
                <a:t>One hub, 120 e-vans,</a:t>
              </a:r>
              <a:br>
                <a:rPr lang="en-US" sz="1020" dirty="0"/>
              </a:br>
              <a:r>
                <a:rPr lang="en-US" sz="1020" dirty="0">
                  <a:solidFill>
                    <a:srgbClr val="59617E"/>
                  </a:solidFill>
                  <a:latin typeface="Segoe UI"/>
                  <a:ea typeface="Segoe UI"/>
                  <a:cs typeface="Segoe UI"/>
                </a:rPr>
                <a:t>first sorter line live</a:t>
              </a:r>
              <a:endParaRPr lang="en-US" sz="1020" dirty="0"/>
            </a:p>
          </p:txBody>
        </p:sp>
        <p:sp>
          <p:nvSpPr>
            <p:cNvPr id="37" name="q3-text"/>
            <p:cNvSpPr txBox="1"/>
            <p:nvPr/>
          </p:nvSpPr>
          <p:spPr>
            <a:xfrm>
              <a:off x="4298823" y="4519612"/>
              <a:ext cx="1514348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350"/>
                </a:lnSpc>
                <a:buNone/>
              </a:pPr>
              <a:r>
                <a:rPr lang="en-US" sz="1020" dirty="0">
                  <a:solidFill>
                    <a:srgbClr val="59617E"/>
                  </a:solidFill>
                  <a:latin typeface="Segoe UI"/>
                  <a:ea typeface="Segoe UI"/>
                  <a:cs typeface="Segoe UI"/>
                </a:rPr>
                <a:t>Second hub, 300 e-vans,</a:t>
              </a:r>
              <a:br>
                <a:rPr lang="en-US" sz="1020" dirty="0"/>
              </a:br>
              <a:r>
                <a:rPr lang="en-US" sz="1020" dirty="0">
                  <a:solidFill>
                    <a:srgbClr val="59617E"/>
                  </a:solidFill>
                  <a:latin typeface="Segoe UI"/>
                  <a:ea typeface="Segoe UI"/>
                  <a:cs typeface="Segoe UI"/>
                </a:rPr>
                <a:t>sorter lines 2 and 3</a:t>
              </a:r>
              <a:endParaRPr lang="en-US" sz="1020" dirty="0"/>
            </a:p>
          </p:txBody>
        </p:sp>
        <p:sp>
          <p:nvSpPr>
            <p:cNvPr id="38" name="q4-text"/>
            <p:cNvSpPr txBox="1"/>
            <p:nvPr/>
          </p:nvSpPr>
          <p:spPr>
            <a:xfrm>
              <a:off x="6106096" y="4519612"/>
              <a:ext cx="1139698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350"/>
                </a:lnSpc>
                <a:buNone/>
              </a:pPr>
              <a:r>
                <a:rPr lang="en-US" sz="1020" dirty="0">
                  <a:solidFill>
                    <a:srgbClr val="59617E"/>
                  </a:solidFill>
                  <a:latin typeface="Segoe UI"/>
                  <a:ea typeface="Segoe UI"/>
                  <a:cs typeface="Segoe UI"/>
                </a:rPr>
                <a:t>Full network, KPIs</a:t>
              </a:r>
              <a:br>
                <a:rPr lang="en-US" sz="1020" dirty="0"/>
              </a:br>
              <a:r>
                <a:rPr lang="en-US" sz="1020" dirty="0">
                  <a:solidFill>
                    <a:srgbClr val="59617E"/>
                  </a:solidFill>
                  <a:latin typeface="Segoe UI"/>
                  <a:ea typeface="Segoe UI"/>
                  <a:cs typeface="Segoe UI"/>
                </a:rPr>
                <a:t>tracked weekly</a:t>
              </a:r>
              <a:endParaRPr lang="en-US" sz="1020" dirty="0"/>
            </a:p>
          </p:txBody>
        </p:sp>
      </p:grpSp>
      <p:cxnSp>
        <p:nvCxnSpPr>
          <p:cNvPr id="39" name="footer-rule"/>
          <p:cNvCxnSpPr/>
          <p:nvPr/>
        </p:nvCxnSpPr>
        <p:spPr>
          <a:xfrm>
            <a:off x="609600" y="6292850"/>
            <a:ext cx="10972800" cy="0"/>
          </a:xfrm>
          <a:prstGeom prst="line">
            <a:avLst/>
          </a:prstGeom>
          <a:ln w="12700" cap="flat">
            <a:solidFill>
              <a:srgbClr val="E4E7F0"/>
            </a:solidFill>
          </a:ln>
        </p:spPr>
      </p:cxnSp>
      <p:sp>
        <p:nvSpPr>
          <p:cNvPr id="40" name="footer"/>
          <p:cNvSpPr txBox="1"/>
          <p:nvPr/>
        </p:nvSpPr>
        <p:spPr>
          <a:xfrm>
            <a:off x="606298" y="6429270"/>
            <a:ext cx="3062783" cy="139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101"/>
              </a:lnSpc>
              <a:buNone/>
            </a:pPr>
            <a:r>
              <a:rPr lang="en-US" sz="847" dirty="0">
                <a:solidFill>
                  <a:srgbClr val="8A91AB"/>
                </a:solidFill>
                <a:latin typeface="Segoe UI"/>
                <a:ea typeface="Segoe UI"/>
                <a:cs typeface="Segoe UI"/>
              </a:rPr>
              <a:t>Fictional example · Northwind Logistics · Operations Plan 2027</a:t>
            </a:r>
            <a:endParaRPr lang="en-US" sz="84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unscreenshot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Northwind Logistics - Operations Plan 2027</dc:title>
  <dc:creator>unscreenshot</dc:creator>
  <dcterms:created xsi:type="dcterms:W3CDTF">2026-10-09T10:26:56Z</dcterms:created>
  <dcterms:modified xsi:type="dcterms:W3CDTF">2026-10-09T10:26:56Z</dcterms:modified>
</cp:coreProperties>
</file>